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Missed detection</c:v>
                </c:pt>
              </c:strCache>
            </c:strRef>
          </c:tx>
          <c:spPr>
            <a:solidFill>
              <a:srgbClr val="AF8A2C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Unexpected event,
task-relevant</c:v>
                  </c:pt>
                  <c:pt idx="1">
                    <c:v>Unexpected event,
not task-relevant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55</c:v>
                </c:pt>
                <c:pt idx="1">
                  <c:v>79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FFFFF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93A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61A21"/>
        </a:solidFill>
        <a:ln w="12700" cap="flat">
          <a:solidFill>
            <a:srgbClr val="161A21"/>
          </a:solidFill>
        </a:ln>
        <a:effectLst/>
      </c:spPr>
    </c:plotArea>
    <c:plotVisOnly val="1"/>
    <c:dispBlanksAs val="span"/>
  </c:chart>
  <c:spPr>
    <a:solidFill>
      <a:srgbClr val="161A21"/>
    </a:solidFill>
    <a:ln w="12700" cap="flat">
      <a:solidFill>
        <a:srgbClr val="161A21"/>
      </a:solidFill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Violations detected</c:v>
                </c:pt>
              </c:strCache>
            </c:strRef>
          </c:tx>
          <c:spPr>
            <a:solidFill>
              <a:srgbClr val="AF8A2C"/>
            </a:solidFill>
            <a:ln w="28575" cap="flat">
              <a:solidFill>
                <a:srgbClr val="AF8A2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AF8A2C"/>
              </a:solidFill>
              <a:ln w="9525" cap="flat">
                <a:solidFill>
                  <a:srgbClr val="AF8A2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W1</c:v>
                  </c:pt>
                  <c:pt idx="1">
                    <c:v>W2</c:v>
                  </c:pt>
                  <c:pt idx="2">
                    <c:v>W3</c:v>
                  </c:pt>
                  <c:pt idx="3">
                    <c:v>W4</c:v>
                  </c:pt>
                  <c:pt idx="4">
                    <c:v>W5</c:v>
                  </c:pt>
                  <c:pt idx="5">
                    <c:v>W6</c:v>
                  </c:pt>
                  <c:pt idx="6">
                    <c:v>W7</c:v>
                  </c:pt>
                  <c:pt idx="7">
                    <c:v>W8</c:v>
                  </c:pt>
                  <c:pt idx="8">
                    <c:v>W9</c:v>
                  </c:pt>
                  <c:pt idx="9">
                    <c:v>W10</c:v>
                  </c:pt>
                  <c:pt idx="10">
                    <c:v>W11</c:v>
                  </c:pt>
                  <c:pt idx="11">
                    <c:v>W12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62</c:v>
                </c:pt>
                <c:pt idx="1">
                  <c:v>58</c:v>
                </c:pt>
                <c:pt idx="2">
                  <c:v>51</c:v>
                </c:pt>
                <c:pt idx="3">
                  <c:v>47</c:v>
                </c:pt>
                <c:pt idx="4">
                  <c:v>40</c:v>
                </c:pt>
                <c:pt idx="5">
                  <c:v>36</c:v>
                </c:pt>
                <c:pt idx="6">
                  <c:v>31</c:v>
                </c:pt>
                <c:pt idx="7">
                  <c:v>28</c:v>
                </c:pt>
                <c:pt idx="8">
                  <c:v>24</c:v>
                </c:pt>
                <c:pt idx="9">
                  <c:v>22</c:v>
                </c:pt>
                <c:pt idx="10">
                  <c:v>19</c:v>
                </c:pt>
                <c:pt idx="11">
                  <c:v>17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93A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262C3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93A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61A21"/>
        </a:solidFill>
        <a:ln w="12700" cap="flat">
          <a:solidFill>
            <a:srgbClr val="161A21"/>
          </a:solidFill>
        </a:ln>
        <a:effectLst/>
      </c:spPr>
    </c:plotArea>
    <c:plotVisOnly val="1"/>
    <c:dispBlanksAs val="span"/>
  </c:chart>
  <c:spPr>
    <a:solidFill>
      <a:srgbClr val="161A21"/>
    </a:solidFill>
    <a:ln w="12700" cap="flat">
      <a:solidFill>
        <a:srgbClr val="161A21"/>
      </a:solidFill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events</c:v>
                </c:pt>
              </c:strCache>
            </c:strRef>
          </c:tx>
          <c:spPr>
            <a:solidFill>
              <a:srgbClr val="AF8A2C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Access control</c:v>
                  </c:pt>
                  <c:pt idx="1">
                    <c:v>Telemetry breach</c:v>
                  </c:pt>
                  <c:pt idx="2">
                    <c:v>Equipment proximity</c:v>
                  </c:pt>
                  <c:pt idx="3">
                    <c:v>Restricted zone</c:v>
                  </c:pt>
                  <c:pt idx="4">
                    <c:v>PPE compliance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</c:v>
                </c:pt>
                <c:pt idx="1">
                  <c:v>10</c:v>
                </c:pt>
                <c:pt idx="2">
                  <c:v>18</c:v>
                </c:pt>
                <c:pt idx="3">
                  <c:v>24</c:v>
                </c:pt>
                <c:pt idx="4">
                  <c:v>36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3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8A93A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2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61A21"/>
        </a:solidFill>
        <a:ln w="12700" cap="flat">
          <a:solidFill>
            <a:srgbClr val="161A21"/>
          </a:solidFill>
        </a:ln>
        <a:effectLst/>
      </c:spPr>
    </c:plotArea>
    <c:plotVisOnly val="1"/>
    <c:dispBlanksAs val="span"/>
  </c:chart>
  <c:spPr>
    <a:solidFill>
      <a:srgbClr val="161A21"/>
    </a:solidFill>
    <a:ln w="12700" cap="flat">
      <a:solidFill>
        <a:srgbClr val="161A21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2.png"/><Relationship Id="rId4" Type="http://schemas.openxmlformats.org/officeDocument/2006/relationships/image" Target="../media/image-5-2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2.png"/><Relationship Id="rId5" Type="http://schemas.openxmlformats.org/officeDocument/2006/relationships/image" Target="../media/image-7-5.png"/><Relationship Id="rId6" Type="http://schemas.openxmlformats.org/officeDocument/2006/relationships/image" Target="../media/image-7-2.png"/><Relationship Id="rId7" Type="http://schemas.openxmlformats.org/officeDocument/2006/relationships/image" Target="../media/image-7-7.png"/><Relationship Id="rId8" Type="http://schemas.openxmlformats.org/officeDocument/2006/relationships/image" Target="../media/image-7-2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1.png"/><Relationship Id="rId3" Type="http://schemas.openxmlformats.org/officeDocument/2006/relationships/image" Target="../media/image-14-1.png"/><Relationship Id="rId4" Type="http://schemas.openxmlformats.org/officeDocument/2006/relationships/image" Target="../media/image-14-1.png"/><Relationship Id="rId5" Type="http://schemas.openxmlformats.org/officeDocument/2006/relationships/image" Target="../media/image-14-1.png"/><Relationship Id="rId6" Type="http://schemas.openxmlformats.org/officeDocument/2006/relationships/image" Target="../media/image-14-1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1.png"/><Relationship Id="rId4" Type="http://schemas.openxmlformats.org/officeDocument/2006/relationships/image" Target="../media/image-17-2.png"/><Relationship Id="rId5" Type="http://schemas.openxmlformats.org/officeDocument/2006/relationships/image" Target="../media/image-17-1.png"/><Relationship Id="rId6" Type="http://schemas.openxmlformats.org/officeDocument/2006/relationships/image" Target="../media/image-17-2.png"/><Relationship Id="rId7" Type="http://schemas.openxmlformats.org/officeDocument/2006/relationships/image" Target="../media/image-17-1.png"/><Relationship Id="rId8" Type="http://schemas.openxmlformats.org/officeDocument/2006/relationships/image" Target="../media/image-17-2.png"/><Relationship Id="rId9" Type="http://schemas.openxmlformats.org/officeDocument/2006/relationships/image" Target="../media/image-17-1.png"/><Relationship Id="rId10" Type="http://schemas.openxmlformats.org/officeDocument/2006/relationships/image" Target="../media/image-17-2.png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5.png"/><Relationship Id="rId7" Type="http://schemas.openxmlformats.org/officeDocument/2006/relationships/image" Target="../media/image-18-5.png"/><Relationship Id="rId8" Type="http://schemas.openxmlformats.org/officeDocument/2006/relationships/image" Target="../media/image-18-5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777240"/>
            <a:ext cx="2194560" cy="2194560"/>
          </a:xfrm>
          <a:prstGeom prst="ellipse">
            <a:avLst/>
          </a:prstGeom>
          <a:ln w="9525">
            <a:solidFill>
              <a:srgbClr val="C8A96B">
                <a:alpha val="2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32420" y="-22860"/>
            <a:ext cx="3794760" cy="3794760"/>
          </a:xfrm>
          <a:prstGeom prst="ellipse">
            <a:avLst/>
          </a:prstGeom>
          <a:ln w="9525">
            <a:solidFill>
              <a:srgbClr val="C8A96B">
                <a:alpha val="23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-822960"/>
            <a:ext cx="5394960" cy="5394960"/>
          </a:xfrm>
          <a:prstGeom prst="ellipse">
            <a:avLst/>
          </a:prstGeom>
          <a:ln w="9525">
            <a:solidFill>
              <a:srgbClr val="C8A96B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32220" y="-1623060"/>
            <a:ext cx="6995160" cy="6995160"/>
          </a:xfrm>
          <a:prstGeom prst="ellipse">
            <a:avLst/>
          </a:prstGeom>
          <a:ln w="9525">
            <a:solidFill>
              <a:srgbClr val="C8A96B">
                <a:alpha val="13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532120" y="-2423160"/>
            <a:ext cx="8595360" cy="8595360"/>
          </a:xfrm>
          <a:prstGeom prst="ellipse">
            <a:avLst/>
          </a:prstGeom>
          <a:ln w="9525">
            <a:solidFill>
              <a:srgbClr val="C8A96B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729216" y="1773936"/>
            <a:ext cx="201168" cy="201168"/>
          </a:xfrm>
          <a:prstGeom prst="ellipse">
            <a:avLst/>
          </a:prstGeom>
          <a:solidFill>
            <a:srgbClr val="C8A96B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21284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50" kern="0" dirty="0">
                <a:solidFill>
                  <a:srgbClr val="C8A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PROPELLUS  ·  COMPLIANCE INTELLIGENCE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578608"/>
            <a:ext cx="8778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Alpha Surveillance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685800" y="3730752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i="1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detection, alerting and compliance for operations that cannot afford to miss anything.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85800" y="535838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C8A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85800" y="561441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[Client Name]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85800" y="60167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Propellus  ·  October 2026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665415" y="60533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in confidence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C8A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STAKES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2009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cost of what nobody was watching.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1591056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 is not monitoring. These are the losses that accumulate while footage sits unwatched.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2304288"/>
            <a:ext cx="2499284" cy="2121408"/>
          </a:xfrm>
          <a:prstGeom prst="roundRect">
            <a:avLst>
              <a:gd name="adj" fmla="val 3017"/>
            </a:avLst>
          </a:prstGeom>
          <a:solidFill>
            <a:srgbClr val="161A21"/>
          </a:solidFill>
          <a:ln/>
        </p:spPr>
      </p:sp>
      <p:sp>
        <p:nvSpPr>
          <p:cNvPr id="6" name="Text 4"/>
          <p:cNvSpPr/>
          <p:nvPr/>
        </p:nvSpPr>
        <p:spPr>
          <a:xfrm>
            <a:off x="923544" y="2542032"/>
            <a:ext cx="213352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C8A9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$181.4B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923544" y="3273552"/>
            <a:ext cx="20420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cost of work injuries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23544" y="3694176"/>
            <a:ext cx="20420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Wage and productivity losses, medical and administrative costs borne by US employers in a single year.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459404" y="2304288"/>
            <a:ext cx="2499284" cy="2121408"/>
          </a:xfrm>
          <a:prstGeom prst="roundRect">
            <a:avLst>
              <a:gd name="adj" fmla="val 3017"/>
            </a:avLst>
          </a:prstGeom>
          <a:solidFill>
            <a:srgbClr val="161A21"/>
          </a:solidFill>
          <a:ln/>
        </p:spPr>
      </p:sp>
      <p:sp>
        <p:nvSpPr>
          <p:cNvPr id="10" name="Text 8"/>
          <p:cNvSpPr/>
          <p:nvPr/>
        </p:nvSpPr>
        <p:spPr>
          <a:xfrm>
            <a:off x="3697148" y="2542032"/>
            <a:ext cx="213352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C8A9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5,070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697148" y="3273552"/>
            <a:ext cx="20420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Fatal work injuries in 2024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97148" y="3694176"/>
            <a:ext cx="20420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1,032 of them in construction and extraction occupations alone — a rate of 3.3 per 100,000 workers.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33008" y="2304288"/>
            <a:ext cx="2499284" cy="2121408"/>
          </a:xfrm>
          <a:prstGeom prst="roundRect">
            <a:avLst>
              <a:gd name="adj" fmla="val 3017"/>
            </a:avLst>
          </a:prstGeom>
          <a:solidFill>
            <a:srgbClr val="161A21"/>
          </a:solidFill>
          <a:ln/>
        </p:spPr>
      </p:sp>
      <p:sp>
        <p:nvSpPr>
          <p:cNvPr id="14" name="Text 12"/>
          <p:cNvSpPr/>
          <p:nvPr/>
        </p:nvSpPr>
        <p:spPr>
          <a:xfrm>
            <a:off x="6470752" y="2542032"/>
            <a:ext cx="213352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C8A9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$48,000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470752" y="3273552"/>
            <a:ext cx="20420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medically consulted injury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70752" y="3694176"/>
            <a:ext cx="20420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counting citations, downtime, insurance loading or the cost of defending a claim.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006611" y="2304288"/>
            <a:ext cx="2499284" cy="2121408"/>
          </a:xfrm>
          <a:prstGeom prst="roundRect">
            <a:avLst>
              <a:gd name="adj" fmla="val 3017"/>
            </a:avLst>
          </a:prstGeom>
          <a:solidFill>
            <a:srgbClr val="161A21"/>
          </a:solidFill>
          <a:ln/>
        </p:spPr>
      </p:sp>
      <p:sp>
        <p:nvSpPr>
          <p:cNvPr id="18" name="Text 16"/>
          <p:cNvSpPr/>
          <p:nvPr/>
        </p:nvSpPr>
        <p:spPr>
          <a:xfrm>
            <a:off x="9244355" y="2542032"/>
            <a:ext cx="213352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C8A9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102M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9244355" y="3273552"/>
            <a:ext cx="20420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days lost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244355" y="3694176"/>
            <a:ext cx="20420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Productive capacity erased in one year by incidents that were, in most cases, preventable.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85800" y="4754880"/>
            <a:ext cx="10820095" cy="841248"/>
          </a:xfrm>
          <a:prstGeom prst="roundRect">
            <a:avLst>
              <a:gd name="adj" fmla="val 6522"/>
            </a:avLst>
          </a:prstGeom>
          <a:solidFill>
            <a:srgbClr val="1D222B"/>
          </a:solidFill>
          <a:ln/>
        </p:spPr>
      </p:sp>
      <p:sp>
        <p:nvSpPr>
          <p:cNvPr id="22" name="Shape 20"/>
          <p:cNvSpPr/>
          <p:nvPr/>
        </p:nvSpPr>
        <p:spPr>
          <a:xfrm>
            <a:off x="960120" y="4956048"/>
            <a:ext cx="438912" cy="438912"/>
          </a:xfrm>
          <a:prstGeom prst="ellipse">
            <a:avLst/>
          </a:prstGeom>
          <a:ln w="12700">
            <a:solidFill>
              <a:srgbClr val="C8A96B"/>
            </a:solidFill>
            <a:prstDash val="solid"/>
          </a:ln>
        </p:spPr>
      </p:sp>
      <p:pic>
        <p:nvPicPr>
          <p:cNvPr id="23" name="Image 0" descr="/home/claude/alpha-pitch/ic/w/PiWarningDiamo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626" y="5074554"/>
            <a:ext cx="201900" cy="2019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600200" y="5010912"/>
            <a:ext cx="9585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these figures began as a moment on camera that nobody happened to be watching.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685800" y="5897880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6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National Safety Council, Injury Facts (2024 data); U.S. Bureau of Labor Statistics, Census of Fatal Occupational Injuries (2024).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685800" y="644652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50" kern="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SURVEILLANCE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10957255" y="644652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C8A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HUMAN LIMIT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2009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Experience doesn't fix it. Attention simply runs out.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2084832"/>
            <a:ext cx="4617720" cy="3611880"/>
          </a:xfrm>
          <a:prstGeom prst="roundRect">
            <a:avLst>
              <a:gd name="adj" fmla="val 1772"/>
            </a:avLst>
          </a:prstGeom>
          <a:solidFill>
            <a:srgbClr val="161A21"/>
          </a:solidFill>
          <a:ln/>
        </p:spPr>
      </p:sp>
      <p:sp>
        <p:nvSpPr>
          <p:cNvPr id="5" name="Text 3"/>
          <p:cNvSpPr/>
          <p:nvPr/>
        </p:nvSpPr>
        <p:spPr>
          <a:xfrm>
            <a:off x="978408" y="2286000"/>
            <a:ext cx="40690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600" b="1" dirty="0">
                <a:solidFill>
                  <a:srgbClr val="C8A9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66%</a:t>
            </a:r>
            <a:endParaRPr lang="en-US" sz="7600" dirty="0"/>
          </a:p>
        </p:txBody>
      </p:sp>
      <p:sp>
        <p:nvSpPr>
          <p:cNvPr id="6" name="Text 4"/>
          <p:cNvSpPr/>
          <p:nvPr/>
        </p:nvSpPr>
        <p:spPr>
          <a:xfrm>
            <a:off x="978408" y="3474720"/>
            <a:ext cx="40325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trained operators missed an event in plain sight.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78408" y="4151376"/>
            <a:ext cx="4032504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controlled study of 171 CCTV operators watching optimal-quality footage on a single screen, two thirds failed to notice a salient, unexpected event. The 84 participants with up to 19 years of professional monitoring experience performed no better than the 87 with none.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05272" y="2084832"/>
            <a:ext cx="5900623" cy="3611880"/>
          </a:xfrm>
          <a:prstGeom prst="roundRect">
            <a:avLst>
              <a:gd name="adj" fmla="val 1772"/>
            </a:avLst>
          </a:prstGeom>
          <a:solidFill>
            <a:srgbClr val="161A21"/>
          </a:solidFill>
          <a:ln/>
        </p:spPr>
      </p:sp>
      <p:sp>
        <p:nvSpPr>
          <p:cNvPr id="9" name="Text 7"/>
          <p:cNvSpPr/>
          <p:nvPr/>
        </p:nvSpPr>
        <p:spPr>
          <a:xfrm>
            <a:off x="5897880" y="2322576"/>
            <a:ext cx="53154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Missed-detection rate by event type</a:t>
            </a:r>
            <a:endParaRPr lang="en-US" sz="125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5769864" y="2743200"/>
          <a:ext cx="5516575" cy="208483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8"/>
          <p:cNvSpPr/>
          <p:nvPr/>
        </p:nvSpPr>
        <p:spPr>
          <a:xfrm>
            <a:off x="5916168" y="4937760"/>
            <a:ext cx="527883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C8A9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“Prior task experience did not inoculate operators against inattentional blindness.”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85800" y="5897880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6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PLOS ONE, “Pirate Stealth or Inattentional Blindness? The Effects of Target Relevance and Sustained Attention on Security Monitoring for Experienced and Naïve Operators.” n = 171.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685800" y="644652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50" kern="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SURVEILLANCE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0957255" y="644652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C8A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2009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21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failures every recording-only site shares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2084832"/>
            <a:ext cx="5254600" cy="1700784"/>
          </a:xfrm>
          <a:prstGeom prst="roundRect">
            <a:avLst>
              <a:gd name="adj" fmla="val 3763"/>
            </a:avLst>
          </a:prstGeom>
          <a:solidFill>
            <a:srgbClr val="FFFFFF"/>
          </a:solidFill>
          <a:ln w="12700">
            <a:solidFill>
              <a:srgbClr val="E2E1DD"/>
            </a:solidFill>
            <a:prstDash val="solid"/>
          </a:ln>
          <a:effectLst>
            <a:outerShdw sx="100000" sy="100000" kx="0" ky="0" algn="bl" rotWithShape="0" blurRad="127000" dist="38100" dir="5400000">
              <a:srgbClr val="8A8A82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78408" y="2359152"/>
            <a:ext cx="512064" cy="512064"/>
          </a:xfrm>
          <a:prstGeom prst="ellipse">
            <a:avLst/>
          </a:prstGeom>
          <a:solidFill>
            <a:srgbClr val="0E1116"/>
          </a:solidFill>
          <a:ln/>
        </p:spPr>
      </p:sp>
      <p:pic>
        <p:nvPicPr>
          <p:cNvPr id="6" name="Image 0" descr="/home/claude/alpha-pitch/ic/w/PiClockCountdow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665" y="2497409"/>
            <a:ext cx="235549" cy="23554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55064" y="2432304"/>
            <a:ext cx="402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2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happens after the fact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978408" y="2999232"/>
            <a:ext cx="46693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Footage becomes evidence only once an incident forces someone to go looking for it. By then the injury, the loss or the citation is already on the books.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51296" y="2084832"/>
            <a:ext cx="5254600" cy="1700784"/>
          </a:xfrm>
          <a:prstGeom prst="roundRect">
            <a:avLst>
              <a:gd name="adj" fmla="val 3763"/>
            </a:avLst>
          </a:prstGeom>
          <a:solidFill>
            <a:srgbClr val="FFFFFF"/>
          </a:solidFill>
          <a:ln w="12700">
            <a:solidFill>
              <a:srgbClr val="E2E1DD"/>
            </a:solidFill>
            <a:prstDash val="solid"/>
          </a:ln>
          <a:effectLst>
            <a:outerShdw sx="100000" sy="100000" kx="0" ky="0" algn="bl" rotWithShape="0" blurRad="127000" dist="38100" dir="5400000">
              <a:srgbClr val="8A8A82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43904" y="2359152"/>
            <a:ext cx="512064" cy="512064"/>
          </a:xfrm>
          <a:prstGeom prst="ellipse">
            <a:avLst/>
          </a:prstGeom>
          <a:solidFill>
            <a:srgbClr val="0E1116"/>
          </a:solidFill>
          <a:ln/>
        </p:spPr>
      </p:sp>
      <p:pic>
        <p:nvPicPr>
          <p:cNvPr id="11" name="Image 1" descr="/home/claude/alpha-pitch/ic/w/PiUsersThre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2161" y="2497409"/>
            <a:ext cx="235549" cy="23554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0560" y="2432304"/>
            <a:ext cx="402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2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scales, attention doesn't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543904" y="2999232"/>
            <a:ext cx="46693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camera added widens the gap between what is recorded and what is genuinely seen. Staffing to close that gap is the one cost that rises with every install.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85800" y="4023360"/>
            <a:ext cx="5254600" cy="1700784"/>
          </a:xfrm>
          <a:prstGeom prst="roundRect">
            <a:avLst>
              <a:gd name="adj" fmla="val 3763"/>
            </a:avLst>
          </a:prstGeom>
          <a:solidFill>
            <a:srgbClr val="FFFFFF"/>
          </a:solidFill>
          <a:ln w="12700">
            <a:solidFill>
              <a:srgbClr val="E2E1DD"/>
            </a:solidFill>
            <a:prstDash val="solid"/>
          </a:ln>
          <a:effectLst>
            <a:outerShdw sx="100000" sy="100000" kx="0" ky="0" algn="bl" rotWithShape="0" blurRad="127000" dist="38100" dir="5400000">
              <a:srgbClr val="8A8A82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78408" y="4297680"/>
            <a:ext cx="512064" cy="512064"/>
          </a:xfrm>
          <a:prstGeom prst="ellipse">
            <a:avLst/>
          </a:prstGeom>
          <a:solidFill>
            <a:srgbClr val="0E1116"/>
          </a:solidFill>
          <a:ln/>
        </p:spPr>
      </p:sp>
      <p:pic>
        <p:nvPicPr>
          <p:cNvPr id="16" name="Image 2" descr="/home/claude/alpha-pitch/ic/w/PiClipboardTex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665" y="4435937"/>
            <a:ext cx="235549" cy="23554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55064" y="4370832"/>
            <a:ext cx="402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2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rests on paperwork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978408" y="4937760"/>
            <a:ext cx="46693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Checklists capture what someone remembered to write down, not what happened on the floor. Auditors and insurers increasingly decline to treat the two as equivalent.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51296" y="4023360"/>
            <a:ext cx="5254600" cy="1700784"/>
          </a:xfrm>
          <a:prstGeom prst="roundRect">
            <a:avLst>
              <a:gd name="adj" fmla="val 3763"/>
            </a:avLst>
          </a:prstGeom>
          <a:solidFill>
            <a:srgbClr val="FFFFFF"/>
          </a:solidFill>
          <a:ln w="12700">
            <a:solidFill>
              <a:srgbClr val="E2E1DD"/>
            </a:solidFill>
            <a:prstDash val="solid"/>
          </a:ln>
          <a:effectLst>
            <a:outerShdw sx="100000" sy="100000" kx="0" ky="0" algn="bl" rotWithShape="0" blurRad="127000" dist="38100" dir="5400000">
              <a:srgbClr val="8A8A82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43904" y="4297680"/>
            <a:ext cx="512064" cy="512064"/>
          </a:xfrm>
          <a:prstGeom prst="ellipse">
            <a:avLst/>
          </a:prstGeom>
          <a:solidFill>
            <a:srgbClr val="0E1116"/>
          </a:solidFill>
          <a:ln/>
        </p:spPr>
      </p:sp>
      <p:pic>
        <p:nvPicPr>
          <p:cNvPr id="21" name="Image 3" descr="/home/claude/alpha-pitch/ic/w/PiScale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2161" y="4435937"/>
            <a:ext cx="235549" cy="23554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20560" y="4370832"/>
            <a:ext cx="402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2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 without evidence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6543904" y="4937760"/>
            <a:ext cx="46693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OSHA penalties reach $16,550 per serious violation and $165,514 per willful or repeated one. Contesting a citation without timestamped proof begins from behind.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685800" y="5897880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8B8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Penalty maximums effective for citations issued after 15 January 2026. Source: U.S. Occupational Safety and Health Administration.</a:t>
            </a:r>
            <a:endParaRPr lang="en-US" sz="850" dirty="0"/>
          </a:p>
        </p:txBody>
      </p:sp>
      <p:sp>
        <p:nvSpPr>
          <p:cNvPr id="25" name="Text 19"/>
          <p:cNvSpPr/>
          <p:nvPr/>
        </p:nvSpPr>
        <p:spPr>
          <a:xfrm>
            <a:off x="685800" y="644652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50" kern="0" dirty="0">
                <a:solidFill>
                  <a:srgbClr val="9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SURVEILLANCE</a:t>
            </a:r>
            <a:endParaRPr lang="en-US" sz="800" dirty="0"/>
          </a:p>
        </p:txBody>
      </p:sp>
      <p:sp>
        <p:nvSpPr>
          <p:cNvPr id="26" name="Text 20"/>
          <p:cNvSpPr/>
          <p:nvPr/>
        </p:nvSpPr>
        <p:spPr>
          <a:xfrm>
            <a:off x="10957255" y="644652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2377440"/>
            <a:ext cx="1737360" cy="1737360"/>
          </a:xfrm>
          <a:prstGeom prst="ellipse">
            <a:avLst/>
          </a:prstGeom>
          <a:ln w="9525">
            <a:solidFill>
              <a:srgbClr val="C8A96B">
                <a:alpha val="2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09660" y="1760220"/>
            <a:ext cx="2971800" cy="2971800"/>
          </a:xfrm>
          <a:prstGeom prst="ellipse">
            <a:avLst/>
          </a:prstGeom>
          <a:ln w="9525">
            <a:solidFill>
              <a:srgbClr val="C8A96B">
                <a:alpha val="21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92440" y="1143000"/>
            <a:ext cx="4206240" cy="4206240"/>
          </a:xfrm>
          <a:prstGeom prst="ellipse">
            <a:avLst/>
          </a:prstGeom>
          <a:ln w="9525">
            <a:solidFill>
              <a:srgbClr val="C8A96B">
                <a:alpha val="1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75220" y="525780"/>
            <a:ext cx="5440680" cy="5440680"/>
          </a:xfrm>
          <a:prstGeom prst="ellipse">
            <a:avLst/>
          </a:prstGeom>
          <a:ln w="9525">
            <a:solidFill>
              <a:srgbClr val="C8A96B">
                <a:alpha val="11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11512" y="2862072"/>
            <a:ext cx="768096" cy="768096"/>
          </a:xfrm>
          <a:prstGeom prst="ellipse">
            <a:avLst/>
          </a:prstGeom>
          <a:solidFill>
            <a:srgbClr val="1D222B"/>
          </a:solidFill>
          <a:ln/>
        </p:spPr>
      </p:sp>
      <p:pic>
        <p:nvPicPr>
          <p:cNvPr id="7" name="Image 0" descr="/home/claude/alpha-pitch/ic/b/PiEy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8898" y="3069458"/>
            <a:ext cx="353324" cy="3533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713232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C8A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685800" y="1115568"/>
            <a:ext cx="76352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Alpha Surveillance turns the cameras you already own into an always-on compliance officer.</a:t>
            </a:r>
            <a:endParaRPr lang="en-US" sz="3700" dirty="0"/>
          </a:p>
        </p:txBody>
      </p:sp>
      <p:sp>
        <p:nvSpPr>
          <p:cNvPr id="10" name="Text 7"/>
          <p:cNvSpPr/>
          <p:nvPr/>
        </p:nvSpPr>
        <p:spPr>
          <a:xfrm>
            <a:off x="685800" y="3273552"/>
            <a:ext cx="7086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connects to existing RTSP and IP cameras, runs AI inference on an edge device inside your own network, and evaluates every frame against the Standard Operating Procedures you define — continuously, without fatigue, and without depending on a person looking at the right screen at the right moment.</a:t>
            </a:r>
            <a:endParaRPr lang="en-US" sz="1300" dirty="0"/>
          </a:p>
        </p:txBody>
      </p:sp>
      <p:pic>
        <p:nvPicPr>
          <p:cNvPr id="11" name="Image 1" descr="/home/claude/alpha-pitch/ic/b/Pi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4384548"/>
            <a:ext cx="182880" cy="1828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51560" y="4325112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the violation as it happens — not on review, not next quarter</a:t>
            </a:r>
            <a:endParaRPr lang="en-US" sz="1250" dirty="0"/>
          </a:p>
        </p:txBody>
      </p:sp>
      <p:pic>
        <p:nvPicPr>
          <p:cNvPr id="13" name="Image 2" descr="/home/claude/alpha-pitch/ic/b/Pi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4860036"/>
            <a:ext cx="182880" cy="1828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51560" y="4800600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a timestamped, evidence-backed record of every single event</a:t>
            </a:r>
            <a:endParaRPr lang="en-US" sz="1250" dirty="0"/>
          </a:p>
        </p:txBody>
      </p:sp>
      <p:pic>
        <p:nvPicPr>
          <p:cNvPr id="15" name="Image 3" descr="/home/claude/alpha-pitch/ic/b/Pi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" y="5335524"/>
            <a:ext cx="182880" cy="18288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51560" y="5276088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Authored around your SOPs, not a fixed vendor-defined rule set</a:t>
            </a:r>
            <a:endParaRPr lang="en-US" sz="1250" dirty="0"/>
          </a:p>
        </p:txBody>
      </p:sp>
      <p:sp>
        <p:nvSpPr>
          <p:cNvPr id="17" name="Text 11"/>
          <p:cNvSpPr/>
          <p:nvPr/>
        </p:nvSpPr>
        <p:spPr>
          <a:xfrm>
            <a:off x="685800" y="644652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50" kern="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SURVEILLANCE</a:t>
            </a:r>
            <a:endParaRPr lang="en-US" sz="800" dirty="0"/>
          </a:p>
        </p:txBody>
      </p:sp>
      <p:sp>
        <p:nvSpPr>
          <p:cNvPr id="18" name="Text 12"/>
          <p:cNvSpPr/>
          <p:nvPr/>
        </p:nvSpPr>
        <p:spPr>
          <a:xfrm>
            <a:off x="10957255" y="644652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C8A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2009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21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pillars, one platform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2084832"/>
            <a:ext cx="3411626" cy="3273552"/>
          </a:xfrm>
          <a:prstGeom prst="roundRect">
            <a:avLst>
              <a:gd name="adj" fmla="val 2235"/>
            </a:avLst>
          </a:prstGeom>
          <a:solidFill>
            <a:srgbClr val="0E1116"/>
          </a:solidFill>
          <a:ln/>
        </p:spPr>
      </p:sp>
      <p:sp>
        <p:nvSpPr>
          <p:cNvPr id="5" name="Shape 3"/>
          <p:cNvSpPr/>
          <p:nvPr/>
        </p:nvSpPr>
        <p:spPr>
          <a:xfrm>
            <a:off x="1069848" y="2468880"/>
            <a:ext cx="786384" cy="786384"/>
          </a:xfrm>
          <a:prstGeom prst="ellipse">
            <a:avLst/>
          </a:prstGeom>
          <a:solidFill>
            <a:srgbClr val="C8A96B"/>
          </a:solidFill>
          <a:ln/>
        </p:spPr>
      </p:sp>
      <p:pic>
        <p:nvPicPr>
          <p:cNvPr id="6" name="Image 0" descr="/home/claude/alpha-pitch/ic/k/PiEy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2172" y="2681204"/>
            <a:ext cx="361737" cy="36173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69848" y="3401568"/>
            <a:ext cx="26435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Detection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1069848" y="3950208"/>
            <a:ext cx="264353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BA4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models and connected sensors evaluate conditions continuously — missing PPE, restricted-zone entry, unsafe proximity to equipment, or any rule you can describe in plain language.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90034" y="2084832"/>
            <a:ext cx="3411626" cy="3273552"/>
          </a:xfrm>
          <a:prstGeom prst="roundRect">
            <a:avLst>
              <a:gd name="adj" fmla="val 2235"/>
            </a:avLst>
          </a:prstGeom>
          <a:solidFill>
            <a:srgbClr val="0E1116"/>
          </a:solidFill>
          <a:ln/>
        </p:spPr>
      </p:sp>
      <p:sp>
        <p:nvSpPr>
          <p:cNvPr id="10" name="Shape 7"/>
          <p:cNvSpPr/>
          <p:nvPr/>
        </p:nvSpPr>
        <p:spPr>
          <a:xfrm>
            <a:off x="4774082" y="2468880"/>
            <a:ext cx="786384" cy="786384"/>
          </a:xfrm>
          <a:prstGeom prst="ellipse">
            <a:avLst/>
          </a:prstGeom>
          <a:solidFill>
            <a:srgbClr val="C8A96B"/>
          </a:solidFill>
          <a:ln/>
        </p:spPr>
      </p:sp>
      <p:pic>
        <p:nvPicPr>
          <p:cNvPr id="11" name="Image 1" descr="/home/claude/alpha-pitch/ic/k/PiBellRing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681204"/>
            <a:ext cx="361737" cy="36173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74082" y="3401568"/>
            <a:ext cx="26435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Alerting</a:t>
            </a:r>
            <a:endParaRPr lang="en-US" sz="2100" dirty="0"/>
          </a:p>
        </p:txBody>
      </p:sp>
      <p:sp>
        <p:nvSpPr>
          <p:cNvPr id="13" name="Text 9"/>
          <p:cNvSpPr/>
          <p:nvPr/>
        </p:nvSpPr>
        <p:spPr>
          <a:xfrm>
            <a:off x="4774082" y="3950208"/>
            <a:ext cx="264353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BA4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moment a rule breaks, the event reaches the people who can act on it — pushed live to the operator console and routed by email, with per-camera cooldowns so one recurring condition never floods the channel.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094269" y="2084832"/>
            <a:ext cx="3411626" cy="3273552"/>
          </a:xfrm>
          <a:prstGeom prst="roundRect">
            <a:avLst>
              <a:gd name="adj" fmla="val 2235"/>
            </a:avLst>
          </a:prstGeom>
          <a:solidFill>
            <a:srgbClr val="0E1116"/>
          </a:solidFill>
          <a:ln/>
        </p:spPr>
      </p:sp>
      <p:sp>
        <p:nvSpPr>
          <p:cNvPr id="15" name="Shape 11"/>
          <p:cNvSpPr/>
          <p:nvPr/>
        </p:nvSpPr>
        <p:spPr>
          <a:xfrm>
            <a:off x="8478317" y="2468880"/>
            <a:ext cx="786384" cy="786384"/>
          </a:xfrm>
          <a:prstGeom prst="ellipse">
            <a:avLst/>
          </a:prstGeom>
          <a:solidFill>
            <a:srgbClr val="C8A96B"/>
          </a:solidFill>
          <a:ln/>
        </p:spPr>
      </p:sp>
      <p:pic>
        <p:nvPicPr>
          <p:cNvPr id="16" name="Image 2" descr="/home/claude/alpha-pitch/ic/k/PiSeal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0640" y="2681204"/>
            <a:ext cx="361737" cy="36173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78317" y="3401568"/>
            <a:ext cx="26435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</a:t>
            </a:r>
            <a:endParaRPr lang="en-US" sz="2100" dirty="0"/>
          </a:p>
        </p:txBody>
      </p:sp>
      <p:sp>
        <p:nvSpPr>
          <p:cNvPr id="18" name="Text 13"/>
          <p:cNvSpPr/>
          <p:nvPr/>
        </p:nvSpPr>
        <p:spPr>
          <a:xfrm>
            <a:off x="8478317" y="3950208"/>
            <a:ext cx="264353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BA4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detection is written to an append-only journal with its evidence frame, timestamp, source and originating rule — producing the defensible record that audits, insurers and incident reviews actually require.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685800" y="644652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50" kern="0" dirty="0">
                <a:solidFill>
                  <a:srgbClr val="9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SURVEILLANCE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10957255" y="644652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C8A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2009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camera feed to defensible record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1591056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stages, each independently scalable. The loop closes in seconds, not on the next review cycle.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2304288"/>
            <a:ext cx="1973824" cy="2688336"/>
          </a:xfrm>
          <a:prstGeom prst="roundRect">
            <a:avLst>
              <a:gd name="adj" fmla="val 3243"/>
            </a:avLst>
          </a:prstGeom>
          <a:solidFill>
            <a:srgbClr val="161A21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46888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7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380104" y="2871216"/>
            <a:ext cx="585216" cy="585216"/>
          </a:xfrm>
          <a:prstGeom prst="ellipse">
            <a:avLst/>
          </a:prstGeom>
          <a:ln w="12700">
            <a:solidFill>
              <a:srgbClr val="C8A96B"/>
            </a:solidFill>
            <a:prstDash val="solid"/>
          </a:ln>
        </p:spPr>
      </p:sp>
      <p:pic>
        <p:nvPicPr>
          <p:cNvPr id="8" name="Image 0" descr="/home/claude/alpha-pitch/ic/w/PiVideoCame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8112" y="3029224"/>
            <a:ext cx="269199" cy="26919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13816" y="3602736"/>
            <a:ext cx="171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50392" y="4059936"/>
            <a:ext cx="16446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RTSP or IP cameras stream to the on-site edge device. Video never leaves your network to be analysed.</a:t>
            </a:r>
            <a:endParaRPr lang="en-US" sz="1000" dirty="0"/>
          </a:p>
        </p:txBody>
      </p:sp>
      <p:pic>
        <p:nvPicPr>
          <p:cNvPr id="11" name="Image 1" descr="/home/claude/alpha-pitch/ic/b/PiArrowR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6200" y="3063240"/>
            <a:ext cx="164592" cy="16459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897368" y="2304288"/>
            <a:ext cx="1973824" cy="2688336"/>
          </a:xfrm>
          <a:prstGeom prst="roundRect">
            <a:avLst>
              <a:gd name="adj" fmla="val 3243"/>
            </a:avLst>
          </a:prstGeom>
          <a:solidFill>
            <a:srgbClr val="161A21"/>
          </a:solidFill>
          <a:ln/>
        </p:spPr>
      </p:sp>
      <p:sp>
        <p:nvSpPr>
          <p:cNvPr id="13" name="Text 9"/>
          <p:cNvSpPr/>
          <p:nvPr/>
        </p:nvSpPr>
        <p:spPr>
          <a:xfrm>
            <a:off x="3080248" y="246888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7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3591672" y="2871216"/>
            <a:ext cx="585216" cy="585216"/>
          </a:xfrm>
          <a:prstGeom prst="ellipse">
            <a:avLst/>
          </a:prstGeom>
          <a:ln w="12700">
            <a:solidFill>
              <a:srgbClr val="C8A96B"/>
            </a:solidFill>
            <a:prstDash val="solid"/>
          </a:ln>
        </p:spPr>
      </p:sp>
      <p:pic>
        <p:nvPicPr>
          <p:cNvPr id="15" name="Image 2" descr="/home/claude/alpha-pitch/ic/w/PiWavefor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680" y="3029224"/>
            <a:ext cx="269199" cy="26919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025384" y="3602736"/>
            <a:ext cx="171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3061960" y="4059936"/>
            <a:ext cx="16446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 are evaluated locally against every SOP rule mapped to that specific camera and zone.</a:t>
            </a:r>
            <a:endParaRPr lang="en-US" sz="1000" dirty="0"/>
          </a:p>
        </p:txBody>
      </p:sp>
      <p:pic>
        <p:nvPicPr>
          <p:cNvPr id="18" name="Image 3" descr="/home/claude/alpha-pitch/ic/b/PiArrowRigh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7768" y="3063240"/>
            <a:ext cx="164592" cy="164592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5108936" y="2304288"/>
            <a:ext cx="1973824" cy="2688336"/>
          </a:xfrm>
          <a:prstGeom prst="roundRect">
            <a:avLst>
              <a:gd name="adj" fmla="val 3243"/>
            </a:avLst>
          </a:prstGeom>
          <a:solidFill>
            <a:srgbClr val="161A21"/>
          </a:solidFill>
          <a:ln/>
        </p:spPr>
      </p:sp>
      <p:sp>
        <p:nvSpPr>
          <p:cNvPr id="20" name="Text 14"/>
          <p:cNvSpPr/>
          <p:nvPr/>
        </p:nvSpPr>
        <p:spPr>
          <a:xfrm>
            <a:off x="5291816" y="246888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7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5803240" y="2871216"/>
            <a:ext cx="585216" cy="585216"/>
          </a:xfrm>
          <a:prstGeom prst="ellipse">
            <a:avLst/>
          </a:prstGeom>
          <a:ln w="12700">
            <a:solidFill>
              <a:srgbClr val="C8A96B"/>
            </a:solidFill>
            <a:prstDash val="solid"/>
          </a:ln>
        </p:spPr>
      </p:sp>
      <p:pic>
        <p:nvPicPr>
          <p:cNvPr id="22" name="Image 4" descr="/home/claude/alpha-pitch/ic/w/PiBellRingin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1248" y="3029224"/>
            <a:ext cx="269199" cy="269199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236952" y="3602736"/>
            <a:ext cx="171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5273528" y="4059936"/>
            <a:ext cx="16446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confirmed violation pushes instantly to the console and to the recipients who own that site.</a:t>
            </a:r>
            <a:endParaRPr lang="en-US" sz="1000" dirty="0"/>
          </a:p>
        </p:txBody>
      </p:sp>
      <p:pic>
        <p:nvPicPr>
          <p:cNvPr id="25" name="Image 5" descr="/home/claude/alpha-pitch/ic/b/PiArrowRigh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19336" y="3063240"/>
            <a:ext cx="164592" cy="164592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7320504" y="2304288"/>
            <a:ext cx="1973824" cy="2688336"/>
          </a:xfrm>
          <a:prstGeom prst="roundRect">
            <a:avLst>
              <a:gd name="adj" fmla="val 3243"/>
            </a:avLst>
          </a:prstGeom>
          <a:solidFill>
            <a:srgbClr val="161A21"/>
          </a:solidFill>
          <a:ln/>
        </p:spPr>
      </p:sp>
      <p:sp>
        <p:nvSpPr>
          <p:cNvPr id="27" name="Text 19"/>
          <p:cNvSpPr/>
          <p:nvPr/>
        </p:nvSpPr>
        <p:spPr>
          <a:xfrm>
            <a:off x="7503384" y="246888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7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300" dirty="0"/>
          </a:p>
        </p:txBody>
      </p:sp>
      <p:sp>
        <p:nvSpPr>
          <p:cNvPr id="28" name="Shape 20"/>
          <p:cNvSpPr/>
          <p:nvPr/>
        </p:nvSpPr>
        <p:spPr>
          <a:xfrm>
            <a:off x="8014807" y="2871216"/>
            <a:ext cx="585216" cy="585216"/>
          </a:xfrm>
          <a:prstGeom prst="ellipse">
            <a:avLst/>
          </a:prstGeom>
          <a:ln w="12700">
            <a:solidFill>
              <a:srgbClr val="C8A96B"/>
            </a:solidFill>
            <a:prstDash val="solid"/>
          </a:ln>
        </p:spPr>
      </p:sp>
      <p:pic>
        <p:nvPicPr>
          <p:cNvPr id="29" name="Image 6" descr="/home/claude/alpha-pitch/ic/w/PiSealChec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72816" y="3029224"/>
            <a:ext cx="269199" cy="269199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7448520" y="3602736"/>
            <a:ext cx="171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</a:t>
            </a:r>
            <a:endParaRPr lang="en-US" sz="1400" dirty="0"/>
          </a:p>
        </p:txBody>
      </p:sp>
      <p:sp>
        <p:nvSpPr>
          <p:cNvPr id="31" name="Text 22"/>
          <p:cNvSpPr/>
          <p:nvPr/>
        </p:nvSpPr>
        <p:spPr>
          <a:xfrm>
            <a:off x="7485096" y="4059936"/>
            <a:ext cx="16446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frame, timestamp, camera and rule are committed to the append-only audit journal.</a:t>
            </a:r>
            <a:endParaRPr lang="en-US" sz="1000" dirty="0"/>
          </a:p>
        </p:txBody>
      </p:sp>
      <p:pic>
        <p:nvPicPr>
          <p:cNvPr id="32" name="Image 7" descr="/home/claude/alpha-pitch/ic/b/PiArrowRigh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30903" y="3063240"/>
            <a:ext cx="164592" cy="164592"/>
          </a:xfrm>
          <a:prstGeom prst="rect">
            <a:avLst/>
          </a:prstGeom>
        </p:spPr>
      </p:pic>
      <p:sp>
        <p:nvSpPr>
          <p:cNvPr id="33" name="Shape 23"/>
          <p:cNvSpPr/>
          <p:nvPr/>
        </p:nvSpPr>
        <p:spPr>
          <a:xfrm>
            <a:off x="9532071" y="2304288"/>
            <a:ext cx="1973824" cy="2688336"/>
          </a:xfrm>
          <a:prstGeom prst="roundRect">
            <a:avLst>
              <a:gd name="adj" fmla="val 3243"/>
            </a:avLst>
          </a:prstGeom>
          <a:solidFill>
            <a:srgbClr val="161A21"/>
          </a:solidFill>
          <a:ln/>
        </p:spPr>
      </p:sp>
      <p:sp>
        <p:nvSpPr>
          <p:cNvPr id="34" name="Text 24"/>
          <p:cNvSpPr/>
          <p:nvPr/>
        </p:nvSpPr>
        <p:spPr>
          <a:xfrm>
            <a:off x="9714951" y="246888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7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300" dirty="0"/>
          </a:p>
        </p:txBody>
      </p:sp>
      <p:sp>
        <p:nvSpPr>
          <p:cNvPr id="35" name="Shape 25"/>
          <p:cNvSpPr/>
          <p:nvPr/>
        </p:nvSpPr>
        <p:spPr>
          <a:xfrm>
            <a:off x="10226375" y="2871216"/>
            <a:ext cx="585216" cy="585216"/>
          </a:xfrm>
          <a:prstGeom prst="ellipse">
            <a:avLst/>
          </a:prstGeom>
          <a:ln w="12700">
            <a:solidFill>
              <a:srgbClr val="C8A96B"/>
            </a:solidFill>
            <a:prstDash val="solid"/>
          </a:ln>
        </p:spPr>
      </p:sp>
      <p:pic>
        <p:nvPicPr>
          <p:cNvPr id="36" name="Image 8" descr="/home/claude/alpha-pitch/ic/w/PiChartLineUp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84384" y="3029224"/>
            <a:ext cx="269199" cy="269199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9660087" y="3602736"/>
            <a:ext cx="171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1400" dirty="0"/>
          </a:p>
        </p:txBody>
      </p:sp>
      <p:sp>
        <p:nvSpPr>
          <p:cNvPr id="38" name="Text 27"/>
          <p:cNvSpPr/>
          <p:nvPr/>
        </p:nvSpPr>
        <p:spPr>
          <a:xfrm>
            <a:off x="9696663" y="4059936"/>
            <a:ext cx="16446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roll up into trends, spatial hotspots and per-site compliance scoring over time.</a:t>
            </a:r>
            <a:endParaRPr lang="en-US" sz="1000" dirty="0"/>
          </a:p>
        </p:txBody>
      </p:sp>
      <p:sp>
        <p:nvSpPr>
          <p:cNvPr id="39" name="Shape 28"/>
          <p:cNvSpPr/>
          <p:nvPr/>
        </p:nvSpPr>
        <p:spPr>
          <a:xfrm>
            <a:off x="685800" y="5175504"/>
            <a:ext cx="10820095" cy="548640"/>
          </a:xfrm>
          <a:prstGeom prst="roundRect">
            <a:avLst>
              <a:gd name="adj" fmla="val 10000"/>
            </a:avLst>
          </a:prstGeom>
          <a:solidFill>
            <a:srgbClr val="1D222B"/>
          </a:solidFill>
          <a:ln/>
        </p:spPr>
      </p:sp>
      <p:sp>
        <p:nvSpPr>
          <p:cNvPr id="40" name="Shape 29"/>
          <p:cNvSpPr/>
          <p:nvPr/>
        </p:nvSpPr>
        <p:spPr>
          <a:xfrm>
            <a:off x="923544" y="5285232"/>
            <a:ext cx="329184" cy="329184"/>
          </a:xfrm>
          <a:prstGeom prst="ellipse">
            <a:avLst/>
          </a:prstGeom>
          <a:solidFill>
            <a:srgbClr val="C8A96B"/>
          </a:solidFill>
          <a:ln/>
        </p:spPr>
      </p:sp>
      <p:pic>
        <p:nvPicPr>
          <p:cNvPr id="41" name="Image 9" descr="/home/claude/alpha-pitch/ic/k/PiStackSimpl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2424" y="5374112"/>
            <a:ext cx="151425" cy="151425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1399032" y="5175504"/>
            <a:ext cx="98599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8A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camera or one thousand.  </a:t>
            </a:r>
            <a:pPr indent="0" marL="0">
              <a:buNone/>
            </a:pPr>
            <a:r>
              <a:rPr lang="en-US" sz="1150" dirty="0">
                <a:solidFill>
                  <a:srgbClr val="9BA4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 stages scale independently, adding cameras adds capacity rather than queue time.</a:t>
            </a:r>
            <a:endParaRPr lang="en-US" sz="1150" dirty="0"/>
          </a:p>
        </p:txBody>
      </p:sp>
      <p:sp>
        <p:nvSpPr>
          <p:cNvPr id="43" name="Text 31"/>
          <p:cNvSpPr/>
          <p:nvPr/>
        </p:nvSpPr>
        <p:spPr>
          <a:xfrm>
            <a:off x="685800" y="5897880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6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Detection-to-alert latency depends on model, stream resolution and edge hardware, and is confirmed during the site survey.</a:t>
            </a:r>
            <a:endParaRPr lang="en-US" sz="850" dirty="0"/>
          </a:p>
        </p:txBody>
      </p:sp>
      <p:sp>
        <p:nvSpPr>
          <p:cNvPr id="44" name="Text 32"/>
          <p:cNvSpPr/>
          <p:nvPr/>
        </p:nvSpPr>
        <p:spPr>
          <a:xfrm>
            <a:off x="685800" y="644652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50" kern="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SURVEILLANCE</a:t>
            </a:r>
            <a:endParaRPr lang="en-US" sz="800" dirty="0"/>
          </a:p>
        </p:txBody>
      </p:sp>
      <p:sp>
        <p:nvSpPr>
          <p:cNvPr id="45" name="Text 33"/>
          <p:cNvSpPr/>
          <p:nvPr/>
        </p:nvSpPr>
        <p:spPr>
          <a:xfrm>
            <a:off x="10957255" y="644652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C8A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DETECTION LAYER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2009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model strategies, one rule engine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1591056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no single model covers everything a working site actually needs to enforce.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2304288"/>
            <a:ext cx="3411626" cy="2487168"/>
          </a:xfrm>
          <a:prstGeom prst="roundRect">
            <a:avLst>
              <a:gd name="adj" fmla="val 2574"/>
            </a:avLst>
          </a:prstGeom>
          <a:solidFill>
            <a:srgbClr val="161A21"/>
          </a:solidFill>
          <a:ln/>
        </p:spPr>
      </p:sp>
      <p:sp>
        <p:nvSpPr>
          <p:cNvPr id="6" name="Shape 4"/>
          <p:cNvSpPr/>
          <p:nvPr/>
        </p:nvSpPr>
        <p:spPr>
          <a:xfrm>
            <a:off x="978408" y="2578608"/>
            <a:ext cx="548640" cy="548640"/>
          </a:xfrm>
          <a:prstGeom prst="ellipse">
            <a:avLst/>
          </a:prstGeom>
          <a:ln w="12700">
            <a:solidFill>
              <a:srgbClr val="C8A96B"/>
            </a:solidFill>
            <a:prstDash val="solid"/>
          </a:ln>
        </p:spPr>
      </p:sp>
      <p:pic>
        <p:nvPicPr>
          <p:cNvPr id="7" name="Image 0" descr="/home/claude/alpha-pitch/ic/w/PiCrosshai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6541" y="2726741"/>
            <a:ext cx="252374" cy="25237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78408" y="3273552"/>
            <a:ext cx="282641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Purpose-trained models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978408" y="3730752"/>
            <a:ext cx="282641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Detectors trained on footage from your own site for the conditions that matter most to you — used where generic, off-the-shelf accuracy is not good enough to act on.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90034" y="2304288"/>
            <a:ext cx="3411626" cy="2487168"/>
          </a:xfrm>
          <a:prstGeom prst="roundRect">
            <a:avLst>
              <a:gd name="adj" fmla="val 2574"/>
            </a:avLst>
          </a:prstGeom>
          <a:solidFill>
            <a:srgbClr val="161A21"/>
          </a:solidFill>
          <a:ln/>
        </p:spPr>
      </p:sp>
      <p:sp>
        <p:nvSpPr>
          <p:cNvPr id="11" name="Shape 8"/>
          <p:cNvSpPr/>
          <p:nvPr/>
        </p:nvSpPr>
        <p:spPr>
          <a:xfrm>
            <a:off x="4682642" y="2578608"/>
            <a:ext cx="548640" cy="548640"/>
          </a:xfrm>
          <a:prstGeom prst="ellipse">
            <a:avLst/>
          </a:prstGeom>
          <a:ln w="12700">
            <a:solidFill>
              <a:srgbClr val="C8A96B"/>
            </a:solidFill>
            <a:prstDash val="solid"/>
          </a:ln>
        </p:spPr>
      </p:sp>
      <p:pic>
        <p:nvPicPr>
          <p:cNvPr id="12" name="Image 1" descr="/home/claude/alpha-pitch/ic/w/PiCloud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0775" y="2726741"/>
            <a:ext cx="252374" cy="25237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82642" y="3273552"/>
            <a:ext cx="282641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hosted models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682642" y="3730752"/>
            <a:ext cx="282641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 detectors for well-defined domains such as construction PPE, covering hard hat, hi-vis vest and mask compliance from day one.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094269" y="2304288"/>
            <a:ext cx="3411626" cy="2487168"/>
          </a:xfrm>
          <a:prstGeom prst="roundRect">
            <a:avLst>
              <a:gd name="adj" fmla="val 2574"/>
            </a:avLst>
          </a:prstGeom>
          <a:solidFill>
            <a:srgbClr val="161A21"/>
          </a:solidFill>
          <a:ln/>
        </p:spPr>
      </p:sp>
      <p:sp>
        <p:nvSpPr>
          <p:cNvPr id="16" name="Shape 12"/>
          <p:cNvSpPr/>
          <p:nvPr/>
        </p:nvSpPr>
        <p:spPr>
          <a:xfrm>
            <a:off x="8386877" y="2578608"/>
            <a:ext cx="548640" cy="548640"/>
          </a:xfrm>
          <a:prstGeom prst="ellipse">
            <a:avLst/>
          </a:prstGeom>
          <a:ln w="12700">
            <a:solidFill>
              <a:srgbClr val="C8A96B"/>
            </a:solidFill>
            <a:prstDash val="solid"/>
          </a:ln>
        </p:spPr>
      </p:sp>
      <p:pic>
        <p:nvPicPr>
          <p:cNvPr id="17" name="Image 2" descr="/home/claude/alpha-pitch/ic/w/PiBezierCurv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5010" y="2726741"/>
            <a:ext cx="252374" cy="25237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86877" y="3273552"/>
            <a:ext cx="282641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Open-vocabulary grounding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8386877" y="3730752"/>
            <a:ext cx="282641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a new target in plain language and the model locates it without a retraining cycle — turning new rules into a configuration change, not a project.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85800" y="5029200"/>
            <a:ext cx="10820095" cy="960120"/>
          </a:xfrm>
          <a:prstGeom prst="roundRect">
            <a:avLst>
              <a:gd name="adj" fmla="val 5714"/>
            </a:avLst>
          </a:prstGeom>
          <a:solidFill>
            <a:srgbClr val="1D222B"/>
          </a:solidFill>
          <a:ln/>
        </p:spPr>
      </p:sp>
      <p:sp>
        <p:nvSpPr>
          <p:cNvPr id="21" name="Shape 16"/>
          <p:cNvSpPr/>
          <p:nvPr/>
        </p:nvSpPr>
        <p:spPr>
          <a:xfrm>
            <a:off x="960120" y="5230368"/>
            <a:ext cx="548640" cy="548640"/>
          </a:xfrm>
          <a:prstGeom prst="ellipse">
            <a:avLst/>
          </a:prstGeom>
          <a:solidFill>
            <a:srgbClr val="C8A96B"/>
          </a:solidFill>
          <a:ln/>
        </p:spPr>
      </p:sp>
      <p:pic>
        <p:nvPicPr>
          <p:cNvPr id="22" name="Image 3" descr="/home/claude/alpha-pitch/ic/k/PiLightnin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8253" y="5378501"/>
            <a:ext cx="252374" cy="25237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673352" y="517550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8A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1673352" y="5468112"/>
            <a:ext cx="9494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BA4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never locked to a fixed label list. As your SOPs evolve, the rule engine evolves with them — cameras already installed pick up new detections through configuration rather than reinstallation.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685800" y="644652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50" kern="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SURVEILLANCE</a:t>
            </a:r>
            <a:endParaRPr lang="en-US" sz="800" dirty="0"/>
          </a:p>
        </p:txBody>
      </p:sp>
      <p:sp>
        <p:nvSpPr>
          <p:cNvPr id="26" name="Text 20"/>
          <p:cNvSpPr/>
          <p:nvPr/>
        </p:nvSpPr>
        <p:spPr>
          <a:xfrm>
            <a:off x="10957255" y="644652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C8A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SOP LIBRARY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2009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21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Mapped to the standards regulators actually cite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1591056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of the ten most frequently cited OSHA standards in FY 2025 describe conditions a camera can verify.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219456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A7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40280" y="2194560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A7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OSHA TOP-10 ENTRY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486400" y="2194560"/>
            <a:ext cx="60194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A7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ALPHA SURVEILLANCE DETECTS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85800" y="2487168"/>
            <a:ext cx="10820095" cy="0"/>
          </a:xfrm>
          <a:prstGeom prst="line">
            <a:avLst/>
          </a:prstGeom>
          <a:noFill/>
          <a:ln w="12700">
            <a:solidFill>
              <a:srgbClr val="C9C8C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57784" y="2569464"/>
            <a:ext cx="11076127" cy="475488"/>
          </a:xfrm>
          <a:prstGeom prst="rect">
            <a:avLst/>
          </a:prstGeom>
          <a:solidFill>
            <a:srgbClr val="ECEBE7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65176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1926.501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240280" y="2651760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2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protection, general requirements</a:t>
            </a:r>
            <a:pPr indent="0" marL="0">
              <a:buNone/>
            </a:pPr>
            <a:r>
              <a:rPr lang="en-US" sz="1150" b="1" dirty="0">
                <a:solidFill>
                  <a:srgbClr val="8A7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#1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0" y="2651760"/>
            <a:ext cx="60194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 inside unprotected edge zones, missing harness anchorage, entry to fall-risk areas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3163824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1910.134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240280" y="3163824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2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Respiratory protection</a:t>
            </a:r>
            <a:pPr indent="0" marL="0">
              <a:buNone/>
            </a:pPr>
            <a:r>
              <a:rPr lang="en-US" sz="1150" b="1" dirty="0">
                <a:solidFill>
                  <a:srgbClr val="8A7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#5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0" y="3163824"/>
            <a:ext cx="60194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Respirator or mask absent within a designated respiratory-protection zone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57784" y="3593592"/>
            <a:ext cx="11076127" cy="475488"/>
          </a:xfrm>
          <a:prstGeom prst="rect">
            <a:avLst/>
          </a:prstGeom>
          <a:solidFill>
            <a:srgbClr val="ECEBE7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67588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1926.451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240280" y="3675888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2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Scaffolding, construction</a:t>
            </a:r>
            <a:pPr indent="0" marL="0">
              <a:buNone/>
            </a:pPr>
            <a:r>
              <a:rPr lang="en-US" sz="1150" b="1" dirty="0">
                <a:solidFill>
                  <a:srgbClr val="8A7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#6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0" y="3675888"/>
            <a:ext cx="60194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Unsafe scaffold access, personnel on incomplete platforms, overloading indicators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" y="418795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1926.503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240280" y="4187952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2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protection training</a:t>
            </a:r>
            <a:pPr indent="0" marL="0">
              <a:buNone/>
            </a:pPr>
            <a:r>
              <a:rPr lang="en-US" sz="1150" b="1" dirty="0">
                <a:solidFill>
                  <a:srgbClr val="8A7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#7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86400" y="4187952"/>
            <a:ext cx="60194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Unqualified personnel in fall-risk zones, cross-checked against enrolment records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57784" y="4617720"/>
            <a:ext cx="11076127" cy="475488"/>
          </a:xfrm>
          <a:prstGeom prst="rect">
            <a:avLst/>
          </a:prstGeom>
          <a:solidFill>
            <a:srgbClr val="ECEBE7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4700016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1910.178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240280" y="4700016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2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industrial trucks</a:t>
            </a:r>
            <a:pPr indent="0" marL="0">
              <a:buNone/>
            </a:pPr>
            <a:r>
              <a:rPr lang="en-US" sz="1150" b="1" dirty="0">
                <a:solidFill>
                  <a:srgbClr val="8A7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#8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486400" y="4700016"/>
            <a:ext cx="60194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Pedestrian–forklift proximity, unsafe travel paths, obstructed aisles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5800" y="521208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1926.102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240280" y="5212080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2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 and face protection</a:t>
            </a:r>
            <a:pPr indent="0" marL="0">
              <a:buNone/>
            </a:pPr>
            <a:r>
              <a:rPr lang="en-US" sz="1150" b="1" dirty="0">
                <a:solidFill>
                  <a:srgbClr val="8A7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#9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486400" y="5212080"/>
            <a:ext cx="60194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 or face protection absent at designated task areas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5800" y="5897880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8B8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OSHA publishes its Top 10 by rank only; citation counts are not released alongside the list. Source: OSHA, Top 10 Most Frequently Cited Standards, FY 2025 (1 Oct 2024 – 30 Sep 2025).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85800" y="644652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50" kern="0" dirty="0">
                <a:solidFill>
                  <a:srgbClr val="9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SURVEILLANCE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0957255" y="644652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C8A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&amp; ENVIRONMENTAL TELEMETRY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2009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Vision is one sensor. It isn't the only one.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1591056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sensors stream into the same edge device, the same alert routing and the same audit record as every camera on site.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2304288"/>
            <a:ext cx="2499284" cy="2743200"/>
          </a:xfrm>
          <a:prstGeom prst="roundRect">
            <a:avLst>
              <a:gd name="adj" fmla="val 2561"/>
            </a:avLst>
          </a:prstGeom>
          <a:solidFill>
            <a:srgbClr val="161A21"/>
          </a:solidFill>
          <a:ln/>
        </p:spPr>
      </p:sp>
      <p:sp>
        <p:nvSpPr>
          <p:cNvPr id="6" name="Shape 4"/>
          <p:cNvSpPr/>
          <p:nvPr/>
        </p:nvSpPr>
        <p:spPr>
          <a:xfrm>
            <a:off x="941832" y="2560320"/>
            <a:ext cx="530352" cy="530352"/>
          </a:xfrm>
          <a:prstGeom prst="ellipse">
            <a:avLst/>
          </a:prstGeom>
          <a:ln w="12700">
            <a:solidFill>
              <a:srgbClr val="C8A96B"/>
            </a:solidFill>
            <a:prstDash val="solid"/>
          </a:ln>
        </p:spPr>
      </p:sp>
      <p:pic>
        <p:nvPicPr>
          <p:cNvPr id="7" name="Image 0" descr="/home/claude/alpha-pitch/ic/w/PiGau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027" y="2703515"/>
            <a:ext cx="243962" cy="24396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41832" y="3218688"/>
            <a:ext cx="19872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pressure &amp; flow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41832" y="3602736"/>
            <a:ext cx="19872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pressure, flow rate and pump load. A sustained drop signals a leak or blockage; a spike signals regulator or valve failure before a line ruptures.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905256" y="4608576"/>
            <a:ext cx="2060372" cy="274320"/>
          </a:xfrm>
          <a:prstGeom prst="roundRect">
            <a:avLst>
              <a:gd name="adj" fmla="val 50000"/>
            </a:avLst>
          </a:prstGeom>
          <a:solidFill>
            <a:srgbClr val="22283A"/>
          </a:solidFill>
          <a:ln/>
        </p:spPr>
      </p:sp>
      <p:sp>
        <p:nvSpPr>
          <p:cNvPr id="11" name="Text 8"/>
          <p:cNvSpPr/>
          <p:nvPr/>
        </p:nvSpPr>
        <p:spPr>
          <a:xfrm>
            <a:off x="905256" y="4608576"/>
            <a:ext cx="20603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8A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2.1 bar, or Δ15% within 60 s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3459404" y="2304288"/>
            <a:ext cx="2499284" cy="2743200"/>
          </a:xfrm>
          <a:prstGeom prst="roundRect">
            <a:avLst>
              <a:gd name="adj" fmla="val 2561"/>
            </a:avLst>
          </a:prstGeom>
          <a:solidFill>
            <a:srgbClr val="161A21"/>
          </a:solidFill>
          <a:ln/>
        </p:spPr>
      </p:sp>
      <p:sp>
        <p:nvSpPr>
          <p:cNvPr id="13" name="Shape 10"/>
          <p:cNvSpPr/>
          <p:nvPr/>
        </p:nvSpPr>
        <p:spPr>
          <a:xfrm>
            <a:off x="3715436" y="2560320"/>
            <a:ext cx="530352" cy="530352"/>
          </a:xfrm>
          <a:prstGeom prst="ellipse">
            <a:avLst/>
          </a:prstGeom>
          <a:ln w="12700">
            <a:solidFill>
              <a:srgbClr val="C8A96B"/>
            </a:solidFill>
            <a:prstDash val="solid"/>
          </a:ln>
        </p:spPr>
      </p:sp>
      <p:pic>
        <p:nvPicPr>
          <p:cNvPr id="14" name="Image 1" descr="/home/claude/alpha-pitch/ic/w/PiWi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8631" y="2703515"/>
            <a:ext cx="243962" cy="24396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715436" y="3218688"/>
            <a:ext cx="19872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purity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715436" y="3602736"/>
            <a:ext cx="19872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Particulate, gas and VOC concentration measured against occupational exposure limits, so a breach raises an alert while the space can still be cleared.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3678860" y="4608576"/>
            <a:ext cx="2060372" cy="274320"/>
          </a:xfrm>
          <a:prstGeom prst="roundRect">
            <a:avLst>
              <a:gd name="adj" fmla="val 50000"/>
            </a:avLst>
          </a:prstGeom>
          <a:solidFill>
            <a:srgbClr val="22283A"/>
          </a:solidFill>
          <a:ln/>
        </p:spPr>
      </p:sp>
      <p:sp>
        <p:nvSpPr>
          <p:cNvPr id="18" name="Text 14"/>
          <p:cNvSpPr/>
          <p:nvPr/>
        </p:nvSpPr>
        <p:spPr>
          <a:xfrm>
            <a:off x="3678860" y="4608576"/>
            <a:ext cx="20603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8A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PM2.5 &gt; 35 µg/m³ sustained</a:t>
            </a:r>
            <a:endParaRPr lang="en-US" sz="800" dirty="0"/>
          </a:p>
        </p:txBody>
      </p:sp>
      <p:sp>
        <p:nvSpPr>
          <p:cNvPr id="19" name="Shape 15"/>
          <p:cNvSpPr/>
          <p:nvPr/>
        </p:nvSpPr>
        <p:spPr>
          <a:xfrm>
            <a:off x="6233008" y="2304288"/>
            <a:ext cx="2499284" cy="2743200"/>
          </a:xfrm>
          <a:prstGeom prst="roundRect">
            <a:avLst>
              <a:gd name="adj" fmla="val 2561"/>
            </a:avLst>
          </a:prstGeom>
          <a:solidFill>
            <a:srgbClr val="161A21"/>
          </a:solidFill>
          <a:ln/>
        </p:spPr>
      </p:sp>
      <p:sp>
        <p:nvSpPr>
          <p:cNvPr id="20" name="Shape 16"/>
          <p:cNvSpPr/>
          <p:nvPr/>
        </p:nvSpPr>
        <p:spPr>
          <a:xfrm>
            <a:off x="6489040" y="2560320"/>
            <a:ext cx="530352" cy="530352"/>
          </a:xfrm>
          <a:prstGeom prst="ellipse">
            <a:avLst/>
          </a:prstGeom>
          <a:ln w="12700">
            <a:solidFill>
              <a:srgbClr val="C8A96B"/>
            </a:solidFill>
            <a:prstDash val="solid"/>
          </a:ln>
        </p:spPr>
      </p:sp>
      <p:pic>
        <p:nvPicPr>
          <p:cNvPr id="21" name="Image 2" descr="/home/claude/alpha-pitch/ic/w/PiFlam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2235" y="2703515"/>
            <a:ext cx="243962" cy="24396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489040" y="3218688"/>
            <a:ext cx="19872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&amp; thermal rise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6489040" y="3602736"/>
            <a:ext cx="19872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Smoke, flame signature and abnormal thermal rise on machinery — caught at the sensor and cross-confirmed on the nearest camera before anyone is dispatched.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6452464" y="4608576"/>
            <a:ext cx="2060372" cy="274320"/>
          </a:xfrm>
          <a:prstGeom prst="roundRect">
            <a:avLst>
              <a:gd name="adj" fmla="val 50000"/>
            </a:avLst>
          </a:prstGeom>
          <a:solidFill>
            <a:srgbClr val="22283A"/>
          </a:solidFill>
          <a:ln/>
        </p:spPr>
      </p:sp>
      <p:sp>
        <p:nvSpPr>
          <p:cNvPr id="25" name="Text 20"/>
          <p:cNvSpPr/>
          <p:nvPr/>
        </p:nvSpPr>
        <p:spPr>
          <a:xfrm>
            <a:off x="6452464" y="4608576"/>
            <a:ext cx="20603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8A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ΔT &gt; 20 °C above baseline</a:t>
            </a:r>
            <a:endParaRPr lang="en-US" sz="800" dirty="0"/>
          </a:p>
        </p:txBody>
      </p:sp>
      <p:sp>
        <p:nvSpPr>
          <p:cNvPr id="26" name="Shape 21"/>
          <p:cNvSpPr/>
          <p:nvPr/>
        </p:nvSpPr>
        <p:spPr>
          <a:xfrm>
            <a:off x="9006611" y="2304288"/>
            <a:ext cx="2499284" cy="2743200"/>
          </a:xfrm>
          <a:prstGeom prst="roundRect">
            <a:avLst>
              <a:gd name="adj" fmla="val 2561"/>
            </a:avLst>
          </a:prstGeom>
          <a:solidFill>
            <a:srgbClr val="161A21"/>
          </a:solidFill>
          <a:ln/>
        </p:spPr>
      </p:sp>
      <p:sp>
        <p:nvSpPr>
          <p:cNvPr id="27" name="Shape 22"/>
          <p:cNvSpPr/>
          <p:nvPr/>
        </p:nvSpPr>
        <p:spPr>
          <a:xfrm>
            <a:off x="9262643" y="2560320"/>
            <a:ext cx="530352" cy="530352"/>
          </a:xfrm>
          <a:prstGeom prst="ellipse">
            <a:avLst/>
          </a:prstGeom>
          <a:ln w="12700">
            <a:solidFill>
              <a:srgbClr val="C8A96B"/>
            </a:solidFill>
            <a:prstDash val="solid"/>
          </a:ln>
        </p:spPr>
      </p:sp>
      <p:pic>
        <p:nvPicPr>
          <p:cNvPr id="28" name="Image 3" descr="/home/claude/alpha-pitch/ic/w/PiLightnin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5838" y="2703515"/>
            <a:ext cx="243962" cy="243962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9262643" y="3218688"/>
            <a:ext cx="19872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Electrical fluctuation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9262643" y="3602736"/>
            <a:ext cx="19872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Voltage sag, surge, phase imbalance and current draw: the earliest signature of motor degradation, and of the unplanned downtime that follows it.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>
            <a:off x="9226067" y="4608576"/>
            <a:ext cx="2060372" cy="274320"/>
          </a:xfrm>
          <a:prstGeom prst="roundRect">
            <a:avLst>
              <a:gd name="adj" fmla="val 50000"/>
            </a:avLst>
          </a:prstGeom>
          <a:solidFill>
            <a:srgbClr val="22283A"/>
          </a:solidFill>
          <a:ln/>
        </p:spPr>
      </p:sp>
      <p:sp>
        <p:nvSpPr>
          <p:cNvPr id="32" name="Text 26"/>
          <p:cNvSpPr/>
          <p:nvPr/>
        </p:nvSpPr>
        <p:spPr>
          <a:xfrm>
            <a:off x="9226067" y="4608576"/>
            <a:ext cx="20603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8A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 &gt; 10% held beyond 2 s</a:t>
            </a:r>
            <a:endParaRPr lang="en-US" sz="800" dirty="0"/>
          </a:p>
        </p:txBody>
      </p:sp>
      <p:sp>
        <p:nvSpPr>
          <p:cNvPr id="33" name="Shape 27"/>
          <p:cNvSpPr/>
          <p:nvPr/>
        </p:nvSpPr>
        <p:spPr>
          <a:xfrm>
            <a:off x="685800" y="5248656"/>
            <a:ext cx="10820095" cy="548640"/>
          </a:xfrm>
          <a:prstGeom prst="roundRect">
            <a:avLst>
              <a:gd name="adj" fmla="val 10000"/>
            </a:avLst>
          </a:prstGeom>
          <a:solidFill>
            <a:srgbClr val="1D222B"/>
          </a:solidFill>
          <a:ln/>
        </p:spPr>
      </p:sp>
      <p:sp>
        <p:nvSpPr>
          <p:cNvPr id="34" name="Shape 28"/>
          <p:cNvSpPr/>
          <p:nvPr/>
        </p:nvSpPr>
        <p:spPr>
          <a:xfrm>
            <a:off x="923544" y="5358384"/>
            <a:ext cx="329184" cy="329184"/>
          </a:xfrm>
          <a:prstGeom prst="ellipse">
            <a:avLst/>
          </a:prstGeom>
          <a:solidFill>
            <a:srgbClr val="C8A96B"/>
          </a:solidFill>
          <a:ln/>
        </p:spPr>
      </p:sp>
      <p:pic>
        <p:nvPicPr>
          <p:cNvPr id="35" name="Image 4" descr="/home/claude/alpha-pitch/ic/k/PiPath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2424" y="5447264"/>
            <a:ext cx="151425" cy="151425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1399032" y="5248656"/>
            <a:ext cx="98599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8A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pipeline, whatever the sensor.  </a:t>
            </a:r>
            <a:pPr indent="0" marL="0">
              <a:buNone/>
            </a:pPr>
            <a:r>
              <a:rPr lang="en-US" sz="1150" dirty="0">
                <a:solidFill>
                  <a:srgbClr val="9BA4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pressure breach and a missing hard hat follow an identical path — same routing, same immutable record, same compliance view.</a:t>
            </a:r>
            <a:endParaRPr lang="en-US" sz="1150" dirty="0"/>
          </a:p>
        </p:txBody>
      </p:sp>
      <p:sp>
        <p:nvSpPr>
          <p:cNvPr id="37" name="Text 30"/>
          <p:cNvSpPr/>
          <p:nvPr/>
        </p:nvSpPr>
        <p:spPr>
          <a:xfrm>
            <a:off x="685800" y="5897880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6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values shown are configurable examples, not product defaults. PM2.5 reference: U.S. EPA 24-hour PM2.5 NAAQS, 35 µg/m³ (retained in the 2024 final rule).</a:t>
            </a:r>
            <a:endParaRPr lang="en-US" sz="850" dirty="0"/>
          </a:p>
        </p:txBody>
      </p:sp>
      <p:sp>
        <p:nvSpPr>
          <p:cNvPr id="38" name="Text 31"/>
          <p:cNvSpPr/>
          <p:nvPr/>
        </p:nvSpPr>
        <p:spPr>
          <a:xfrm>
            <a:off x="685800" y="644652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50" kern="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SURVEILLANCE</a:t>
            </a:r>
            <a:endParaRPr lang="en-US" sz="800" dirty="0"/>
          </a:p>
        </p:txBody>
      </p:sp>
      <p:sp>
        <p:nvSpPr>
          <p:cNvPr id="39" name="Text 32"/>
          <p:cNvSpPr/>
          <p:nvPr/>
        </p:nvSpPr>
        <p:spPr>
          <a:xfrm>
            <a:off x="10957255" y="644652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C8A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ALERTING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2009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alert that reaches nobody is not an alert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1591056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is the easy half. Delivery under real-world conditions is where systems quietly fail.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2304288"/>
            <a:ext cx="2499284" cy="2761488"/>
          </a:xfrm>
          <a:prstGeom prst="roundRect">
            <a:avLst>
              <a:gd name="adj" fmla="val 2561"/>
            </a:avLst>
          </a:prstGeom>
          <a:solidFill>
            <a:srgbClr val="161A21"/>
          </a:solidFill>
          <a:ln/>
        </p:spPr>
      </p:sp>
      <p:sp>
        <p:nvSpPr>
          <p:cNvPr id="6" name="Shape 4"/>
          <p:cNvSpPr/>
          <p:nvPr/>
        </p:nvSpPr>
        <p:spPr>
          <a:xfrm>
            <a:off x="941832" y="2578608"/>
            <a:ext cx="530352" cy="530352"/>
          </a:xfrm>
          <a:prstGeom prst="ellipse">
            <a:avLst/>
          </a:prstGeom>
          <a:ln w="12700">
            <a:solidFill>
              <a:srgbClr val="C8A96B"/>
            </a:solidFill>
            <a:prstDash val="solid"/>
          </a:ln>
        </p:spPr>
      </p:sp>
      <p:pic>
        <p:nvPicPr>
          <p:cNvPr id="7" name="Image 0" descr="/home/claude/alpha-pitch/ic/w/PiBroadca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027" y="2721803"/>
            <a:ext cx="243962" cy="24396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41832" y="3236976"/>
            <a:ext cx="19872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operator push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41832" y="3621024"/>
            <a:ext cx="19872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Violations appear on the console in real time over a persistent connection — no refresh, no polling, no waiting on a scheduled report.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459404" y="2304288"/>
            <a:ext cx="2499284" cy="2761488"/>
          </a:xfrm>
          <a:prstGeom prst="roundRect">
            <a:avLst>
              <a:gd name="adj" fmla="val 2561"/>
            </a:avLst>
          </a:prstGeom>
          <a:solidFill>
            <a:srgbClr val="161A21"/>
          </a:solidFill>
          <a:ln/>
        </p:spPr>
      </p:sp>
      <p:sp>
        <p:nvSpPr>
          <p:cNvPr id="11" name="Shape 8"/>
          <p:cNvSpPr/>
          <p:nvPr/>
        </p:nvSpPr>
        <p:spPr>
          <a:xfrm>
            <a:off x="3715436" y="2578608"/>
            <a:ext cx="530352" cy="530352"/>
          </a:xfrm>
          <a:prstGeom prst="ellipse">
            <a:avLst/>
          </a:prstGeom>
          <a:ln w="12700">
            <a:solidFill>
              <a:srgbClr val="C8A96B"/>
            </a:solidFill>
            <a:prstDash val="solid"/>
          </a:ln>
        </p:spPr>
      </p:sp>
      <p:pic>
        <p:nvPicPr>
          <p:cNvPr id="12" name="Image 1" descr="/home/claude/alpha-pitch/ic/w/PiFunne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8631" y="2721803"/>
            <a:ext cx="243962" cy="24396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15436" y="3236976"/>
            <a:ext cx="19872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Cooldown control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715436" y="3621024"/>
            <a:ext cx="19872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Per-source, per-rule suppression windows stop a single persistent condition from generating hundreds of duplicate alerts and training staff to ignore them.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233008" y="2304288"/>
            <a:ext cx="2499284" cy="2761488"/>
          </a:xfrm>
          <a:prstGeom prst="roundRect">
            <a:avLst>
              <a:gd name="adj" fmla="val 2561"/>
            </a:avLst>
          </a:prstGeom>
          <a:solidFill>
            <a:srgbClr val="161A21"/>
          </a:solidFill>
          <a:ln/>
        </p:spPr>
      </p:sp>
      <p:sp>
        <p:nvSpPr>
          <p:cNvPr id="16" name="Shape 12"/>
          <p:cNvSpPr/>
          <p:nvPr/>
        </p:nvSpPr>
        <p:spPr>
          <a:xfrm>
            <a:off x="6489040" y="2578608"/>
            <a:ext cx="530352" cy="530352"/>
          </a:xfrm>
          <a:prstGeom prst="ellipse">
            <a:avLst/>
          </a:prstGeom>
          <a:ln w="12700">
            <a:solidFill>
              <a:srgbClr val="C8A96B"/>
            </a:solidFill>
            <a:prstDash val="solid"/>
          </a:ln>
        </p:spPr>
      </p:sp>
      <p:pic>
        <p:nvPicPr>
          <p:cNvPr id="17" name="Image 2" descr="/home/claude/alpha-pitch/ic/w/PiEnvelopeSimp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2235" y="2721803"/>
            <a:ext cx="243962" cy="24396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89040" y="3236976"/>
            <a:ext cx="19872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Routed notification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89040" y="3621024"/>
            <a:ext cx="19872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delivery to the roles that own each site, so an alert still reaches a supervisor when nobody is sitting at the console.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9006611" y="2304288"/>
            <a:ext cx="2499284" cy="2761488"/>
          </a:xfrm>
          <a:prstGeom prst="roundRect">
            <a:avLst>
              <a:gd name="adj" fmla="val 2561"/>
            </a:avLst>
          </a:prstGeom>
          <a:solidFill>
            <a:srgbClr val="161A21"/>
          </a:solidFill>
          <a:ln/>
        </p:spPr>
      </p:sp>
      <p:sp>
        <p:nvSpPr>
          <p:cNvPr id="21" name="Shape 16"/>
          <p:cNvSpPr/>
          <p:nvPr/>
        </p:nvSpPr>
        <p:spPr>
          <a:xfrm>
            <a:off x="9262643" y="2578608"/>
            <a:ext cx="530352" cy="530352"/>
          </a:xfrm>
          <a:prstGeom prst="ellipse">
            <a:avLst/>
          </a:prstGeom>
          <a:ln w="12700">
            <a:solidFill>
              <a:srgbClr val="C8A96B"/>
            </a:solidFill>
            <a:prstDash val="solid"/>
          </a:ln>
        </p:spPr>
      </p:sp>
      <p:pic>
        <p:nvPicPr>
          <p:cNvPr id="22" name="Image 3" descr="/home/claude/alpha-pitch/ic/w/PiPat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5838" y="2721803"/>
            <a:ext cx="243962" cy="24396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62643" y="3236976"/>
            <a:ext cx="19872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Guaranteed handoff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9262643" y="3621024"/>
            <a:ext cx="19872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are queued and retried through a durable outbox, so a transient network or service fault delays delivery rather than losing the event.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685800" y="5303520"/>
            <a:ext cx="10820095" cy="822960"/>
          </a:xfrm>
          <a:prstGeom prst="roundRect">
            <a:avLst>
              <a:gd name="adj" fmla="val 6667"/>
            </a:avLst>
          </a:prstGeom>
          <a:solidFill>
            <a:srgbClr val="1D222B"/>
          </a:solidFill>
          <a:ln/>
        </p:spPr>
      </p:sp>
      <p:sp>
        <p:nvSpPr>
          <p:cNvPr id="26" name="Shape 20"/>
          <p:cNvSpPr/>
          <p:nvPr/>
        </p:nvSpPr>
        <p:spPr>
          <a:xfrm>
            <a:off x="960120" y="5449824"/>
            <a:ext cx="530352" cy="530352"/>
          </a:xfrm>
          <a:prstGeom prst="ellipse">
            <a:avLst/>
          </a:prstGeom>
          <a:solidFill>
            <a:srgbClr val="C8A96B"/>
          </a:solidFill>
          <a:ln/>
        </p:spPr>
      </p:sp>
      <p:pic>
        <p:nvPicPr>
          <p:cNvPr id="27" name="Image 4" descr="/home/claude/alpha-pitch/ic/k/PiFunne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3315" y="5593019"/>
            <a:ext cx="243962" cy="24396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655064" y="5449824"/>
            <a:ext cx="95399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8A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fatigue is the failure mode that kills these systems.  </a:t>
            </a:r>
            <a:pPr indent="0" marL="0">
              <a:buNone/>
            </a:pPr>
            <a:r>
              <a:rPr lang="en-US" sz="1150" dirty="0">
                <a:solidFill>
                  <a:srgbClr val="9BA4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Cooldowns, routing rules and delivery guarantees are what keep an alert meaningful six months after go-live — not just on day one.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685800" y="644652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50" kern="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SURVEILLANCE</a:t>
            </a:r>
            <a:endParaRPr lang="en-US" sz="800" dirty="0"/>
          </a:p>
        </p:txBody>
      </p:sp>
      <p:sp>
        <p:nvSpPr>
          <p:cNvPr id="30" name="Text 23"/>
          <p:cNvSpPr/>
          <p:nvPr/>
        </p:nvSpPr>
        <p:spPr>
          <a:xfrm>
            <a:off x="10957255" y="644652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C8A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2009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21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 that survives an audit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1591056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violation you cannot prove is a liability, not a control.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2249424"/>
            <a:ext cx="493776" cy="493776"/>
          </a:xfrm>
          <a:prstGeom prst="ellipse">
            <a:avLst/>
          </a:prstGeom>
          <a:solidFill>
            <a:srgbClr val="0E1116"/>
          </a:solidFill>
          <a:ln/>
        </p:spPr>
      </p:sp>
      <p:pic>
        <p:nvPicPr>
          <p:cNvPr id="6" name="Image 0" descr="/home/claude/alpha-pitch/ic/w/PiFingerpri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9120" y="2382744"/>
            <a:ext cx="227137" cy="22713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62456" y="2212848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2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journaling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362456" y="2505456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are appended, never edited or deleted. The record of what was detected cannot be quietly revised after the fact.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85800" y="3145536"/>
            <a:ext cx="493776" cy="493776"/>
          </a:xfrm>
          <a:prstGeom prst="ellipse">
            <a:avLst/>
          </a:prstGeom>
          <a:solidFill>
            <a:srgbClr val="0E1116"/>
          </a:solidFill>
          <a:ln/>
        </p:spPr>
      </p:sp>
      <p:pic>
        <p:nvPicPr>
          <p:cNvPr id="10" name="Image 1" descr="/home/claude/alpha-pitch/ic/w/PiFileTex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120" y="3278856"/>
            <a:ext cx="227137" cy="22713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62456" y="3108960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2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attached at capture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1362456" y="3401568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 or sensor reading that triggered the violation is stored with the event, so the proof and the claim can never drift apart.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85800" y="4041648"/>
            <a:ext cx="493776" cy="493776"/>
          </a:xfrm>
          <a:prstGeom prst="ellipse">
            <a:avLst/>
          </a:prstGeom>
          <a:solidFill>
            <a:srgbClr val="0E1116"/>
          </a:solidFill>
          <a:ln/>
        </p:spPr>
      </p:sp>
      <p:pic>
        <p:nvPicPr>
          <p:cNvPr id="14" name="Image 2" descr="/home/claude/alpha-pitch/ic/w/PiLockKe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20" y="4174968"/>
            <a:ext cx="227137" cy="22713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62456" y="4005072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2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isolation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1362456" y="4297680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record is scoped to your organisation and enforced at the query layer — not merely hidden in the interface.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685800" y="4937760"/>
            <a:ext cx="493776" cy="493776"/>
          </a:xfrm>
          <a:prstGeom prst="ellipse">
            <a:avLst/>
          </a:prstGeom>
          <a:solidFill>
            <a:srgbClr val="0E1116"/>
          </a:solidFill>
          <a:ln/>
        </p:spPr>
      </p:sp>
      <p:pic>
        <p:nvPicPr>
          <p:cNvPr id="18" name="Image 3" descr="/home/claude/alpha-pitch/ic/w/PiClockCountdow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20" y="5071080"/>
            <a:ext cx="227137" cy="227137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62456" y="4901184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2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Queryable retention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362456" y="5193792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 time-series storage keeps long audit histories searchable instead of archived into inaccessibility.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6803136" y="2157984"/>
            <a:ext cx="4702759" cy="3621024"/>
          </a:xfrm>
          <a:prstGeom prst="roundRect">
            <a:avLst>
              <a:gd name="adj" fmla="val 2020"/>
            </a:avLst>
          </a:prstGeom>
          <a:solidFill>
            <a:srgbClr val="0E1116"/>
          </a:solidFill>
          <a:ln/>
        </p:spPr>
      </p:sp>
      <p:sp>
        <p:nvSpPr>
          <p:cNvPr id="22" name="Text 16"/>
          <p:cNvSpPr/>
          <p:nvPr/>
        </p:nvSpPr>
        <p:spPr>
          <a:xfrm>
            <a:off x="7132320" y="2414016"/>
            <a:ext cx="404439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50" kern="0" dirty="0">
                <a:solidFill>
                  <a:srgbClr val="C8A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AN AUDITOR RECEIVES</a:t>
            </a:r>
            <a:endParaRPr lang="en-US" sz="950" dirty="0"/>
          </a:p>
        </p:txBody>
      </p:sp>
      <p:sp>
        <p:nvSpPr>
          <p:cNvPr id="23" name="Shape 17"/>
          <p:cNvSpPr/>
          <p:nvPr/>
        </p:nvSpPr>
        <p:spPr>
          <a:xfrm>
            <a:off x="7150608" y="2944368"/>
            <a:ext cx="91440" cy="91440"/>
          </a:xfrm>
          <a:prstGeom prst="ellipse">
            <a:avLst/>
          </a:prstGeom>
          <a:solidFill>
            <a:srgbClr val="C8A96B"/>
          </a:solidFill>
          <a:ln/>
        </p:spPr>
      </p:sp>
      <p:sp>
        <p:nvSpPr>
          <p:cNvPr id="24" name="Text 18"/>
          <p:cNvSpPr/>
          <p:nvPr/>
        </p:nvSpPr>
        <p:spPr>
          <a:xfrm>
            <a:off x="7388352" y="2834640"/>
            <a:ext cx="37883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exact frame or reading, at the exact second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7150608" y="3401568"/>
            <a:ext cx="91440" cy="91440"/>
          </a:xfrm>
          <a:prstGeom prst="ellipse">
            <a:avLst/>
          </a:prstGeom>
          <a:solidFill>
            <a:srgbClr val="C8A96B"/>
          </a:solidFill>
          <a:ln/>
        </p:spPr>
      </p:sp>
      <p:sp>
        <p:nvSpPr>
          <p:cNvPr id="26" name="Text 20"/>
          <p:cNvSpPr/>
          <p:nvPr/>
        </p:nvSpPr>
        <p:spPr>
          <a:xfrm>
            <a:off x="7388352" y="3291840"/>
            <a:ext cx="37883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or sensor, zone, location and site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7150608" y="3858768"/>
            <a:ext cx="91440" cy="91440"/>
          </a:xfrm>
          <a:prstGeom prst="ellipse">
            <a:avLst/>
          </a:prstGeom>
          <a:solidFill>
            <a:srgbClr val="C8A96B"/>
          </a:solidFill>
          <a:ln/>
        </p:spPr>
      </p:sp>
      <p:sp>
        <p:nvSpPr>
          <p:cNvPr id="28" name="Text 22"/>
          <p:cNvSpPr/>
          <p:nvPr/>
        </p:nvSpPr>
        <p:spPr>
          <a:xfrm>
            <a:off x="7388352" y="3749040"/>
            <a:ext cx="37883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SOP and rule version in force at the time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7150608" y="4315968"/>
            <a:ext cx="91440" cy="91440"/>
          </a:xfrm>
          <a:prstGeom prst="ellipse">
            <a:avLst/>
          </a:prstGeom>
          <a:solidFill>
            <a:srgbClr val="C8A96B"/>
          </a:solidFill>
          <a:ln/>
        </p:spPr>
      </p:sp>
      <p:sp>
        <p:nvSpPr>
          <p:cNvPr id="30" name="Text 24"/>
          <p:cNvSpPr/>
          <p:nvPr/>
        </p:nvSpPr>
        <p:spPr>
          <a:xfrm>
            <a:off x="7388352" y="4206240"/>
            <a:ext cx="37883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confidence and model identifier</a:t>
            </a:r>
            <a:endParaRPr lang="en-US" sz="1150" dirty="0"/>
          </a:p>
        </p:txBody>
      </p:sp>
      <p:sp>
        <p:nvSpPr>
          <p:cNvPr id="31" name="Shape 25"/>
          <p:cNvSpPr/>
          <p:nvPr/>
        </p:nvSpPr>
        <p:spPr>
          <a:xfrm>
            <a:off x="7150608" y="4773168"/>
            <a:ext cx="91440" cy="91440"/>
          </a:xfrm>
          <a:prstGeom prst="ellipse">
            <a:avLst/>
          </a:prstGeom>
          <a:solidFill>
            <a:srgbClr val="C8A96B"/>
          </a:solidFill>
          <a:ln/>
        </p:spPr>
      </p:sp>
      <p:sp>
        <p:nvSpPr>
          <p:cNvPr id="32" name="Text 26"/>
          <p:cNvSpPr/>
          <p:nvPr/>
        </p:nvSpPr>
        <p:spPr>
          <a:xfrm>
            <a:off x="7388352" y="4663440"/>
            <a:ext cx="37883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was notified, and when it was acknowledged</a:t>
            </a:r>
            <a:endParaRPr lang="en-US" sz="1150" dirty="0"/>
          </a:p>
        </p:txBody>
      </p:sp>
      <p:sp>
        <p:nvSpPr>
          <p:cNvPr id="33" name="Shape 27"/>
          <p:cNvSpPr/>
          <p:nvPr/>
        </p:nvSpPr>
        <p:spPr>
          <a:xfrm>
            <a:off x="7150608" y="5230368"/>
            <a:ext cx="91440" cy="91440"/>
          </a:xfrm>
          <a:prstGeom prst="ellipse">
            <a:avLst/>
          </a:prstGeom>
          <a:solidFill>
            <a:srgbClr val="C8A96B"/>
          </a:solidFill>
          <a:ln/>
        </p:spPr>
      </p:sp>
      <p:sp>
        <p:nvSpPr>
          <p:cNvPr id="34" name="Text 28"/>
          <p:cNvSpPr/>
          <p:nvPr/>
        </p:nvSpPr>
        <p:spPr>
          <a:xfrm>
            <a:off x="7388352" y="5120640"/>
            <a:ext cx="37883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complete, exportable event history</a:t>
            </a:r>
            <a:endParaRPr lang="en-US" sz="1150" dirty="0"/>
          </a:p>
        </p:txBody>
      </p:sp>
      <p:sp>
        <p:nvSpPr>
          <p:cNvPr id="35" name="Text 29"/>
          <p:cNvSpPr/>
          <p:nvPr/>
        </p:nvSpPr>
        <p:spPr>
          <a:xfrm>
            <a:off x="685800" y="644652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50" kern="0" dirty="0">
                <a:solidFill>
                  <a:srgbClr val="9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SURVEILLANCE</a:t>
            </a:r>
            <a:endParaRPr lang="en-US" sz="800" dirty="0"/>
          </a:p>
        </p:txBody>
      </p:sp>
      <p:sp>
        <p:nvSpPr>
          <p:cNvPr id="36" name="Text 30"/>
          <p:cNvSpPr/>
          <p:nvPr/>
        </p:nvSpPr>
        <p:spPr>
          <a:xfrm>
            <a:off x="10957255" y="644652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C8A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ADD-ON MODULES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2009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21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Extend the platform as the operation grows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1591056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module runs on the cameras and the edge device already installed — no second rollout.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2212848"/>
            <a:ext cx="3423818" cy="1755648"/>
          </a:xfrm>
          <a:prstGeom prst="roundRect">
            <a:avLst>
              <a:gd name="adj" fmla="val 3646"/>
            </a:avLst>
          </a:prstGeom>
          <a:solidFill>
            <a:srgbClr val="FFFFFF"/>
          </a:solidFill>
          <a:ln w="12700">
            <a:solidFill>
              <a:srgbClr val="E2E1DD"/>
            </a:solidFill>
            <a:prstDash val="solid"/>
          </a:ln>
          <a:effectLst>
            <a:outerShdw sx="100000" sy="100000" kx="0" ky="0" algn="bl" rotWithShape="0" blurRad="127000" dist="38100" dir="5400000">
              <a:srgbClr val="8A8A82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468880"/>
            <a:ext cx="493776" cy="493776"/>
          </a:xfrm>
          <a:prstGeom prst="ellipse">
            <a:avLst/>
          </a:prstGeom>
          <a:solidFill>
            <a:srgbClr val="0E1116"/>
          </a:solidFill>
          <a:ln/>
        </p:spPr>
      </p:sp>
      <p:pic>
        <p:nvPicPr>
          <p:cNvPr id="7" name="Image 0" descr="/home/claude/alpha-pitch/ic/w/PiCalendar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3440" y="2602200"/>
            <a:ext cx="227137" cy="22713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3072384"/>
            <a:ext cx="28751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2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960120" y="3383280"/>
            <a:ext cx="287517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Vision-based check-in, check-out and live headcount. No badges, turnstiles or biometric hardware to buy and maintain.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383938" y="2212848"/>
            <a:ext cx="3423818" cy="1755648"/>
          </a:xfrm>
          <a:prstGeom prst="roundRect">
            <a:avLst>
              <a:gd name="adj" fmla="val 3646"/>
            </a:avLst>
          </a:prstGeom>
          <a:solidFill>
            <a:srgbClr val="FFFFFF"/>
          </a:solidFill>
          <a:ln w="12700">
            <a:solidFill>
              <a:srgbClr val="E2E1DD"/>
            </a:solidFill>
            <a:prstDash val="solid"/>
          </a:ln>
          <a:effectLst>
            <a:outerShdw sx="100000" sy="100000" kx="0" ky="0" algn="bl" rotWithShape="0" blurRad="127000" dist="38100" dir="5400000">
              <a:srgbClr val="8A8A82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58258" y="2468880"/>
            <a:ext cx="493776" cy="493776"/>
          </a:xfrm>
          <a:prstGeom prst="ellipse">
            <a:avLst/>
          </a:prstGeom>
          <a:solidFill>
            <a:srgbClr val="0E1116"/>
          </a:solidFill>
          <a:ln/>
        </p:spPr>
      </p:sp>
      <p:pic>
        <p:nvPicPr>
          <p:cNvPr id="12" name="Image 1" descr="/home/claude/alpha-pitch/ic/w/PiChartLineU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1578" y="2602200"/>
            <a:ext cx="227137" cy="22713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58258" y="3072384"/>
            <a:ext cx="28751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2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heatmaps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658258" y="3383280"/>
            <a:ext cx="287517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Violation trends, spatial hotspots and risk scoring by site, camera, shift or individual SOP.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082077" y="2212848"/>
            <a:ext cx="3423818" cy="1755648"/>
          </a:xfrm>
          <a:prstGeom prst="roundRect">
            <a:avLst>
              <a:gd name="adj" fmla="val 3646"/>
            </a:avLst>
          </a:prstGeom>
          <a:solidFill>
            <a:srgbClr val="FFFFFF"/>
          </a:solidFill>
          <a:ln w="12700">
            <a:solidFill>
              <a:srgbClr val="E2E1DD"/>
            </a:solidFill>
            <a:prstDash val="solid"/>
          </a:ln>
          <a:effectLst>
            <a:outerShdw sx="100000" sy="100000" kx="0" ky="0" algn="bl" rotWithShape="0" blurRad="127000" dist="38100" dir="5400000">
              <a:srgbClr val="8A8A82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56397" y="2468880"/>
            <a:ext cx="493776" cy="493776"/>
          </a:xfrm>
          <a:prstGeom prst="ellipse">
            <a:avLst/>
          </a:prstGeom>
          <a:solidFill>
            <a:srgbClr val="0E1116"/>
          </a:solidFill>
          <a:ln/>
        </p:spPr>
      </p:sp>
      <p:pic>
        <p:nvPicPr>
          <p:cNvPr id="17" name="Image 2" descr="/home/claude/alpha-pitch/ic/w/PiFingerpr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9716" y="2602200"/>
            <a:ext cx="227137" cy="22713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56397" y="3072384"/>
            <a:ext cx="28751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2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re-identification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8356397" y="3383280"/>
            <a:ext cx="287517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same individual across multiple camera views to track movement and cumulative repeat violations.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685800" y="4187952"/>
            <a:ext cx="3423818" cy="1755648"/>
          </a:xfrm>
          <a:prstGeom prst="roundRect">
            <a:avLst>
              <a:gd name="adj" fmla="val 3646"/>
            </a:avLst>
          </a:prstGeom>
          <a:solidFill>
            <a:srgbClr val="FFFFFF"/>
          </a:solidFill>
          <a:ln w="12700">
            <a:solidFill>
              <a:srgbClr val="E2E1DD"/>
            </a:solidFill>
            <a:prstDash val="solid"/>
          </a:ln>
          <a:effectLst>
            <a:outerShdw sx="100000" sy="100000" kx="0" ky="0" algn="bl" rotWithShape="0" blurRad="127000" dist="38100" dir="5400000">
              <a:srgbClr val="8A8A82">
                <a:alpha val="1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60120" y="4443984"/>
            <a:ext cx="493776" cy="493776"/>
          </a:xfrm>
          <a:prstGeom prst="ellipse">
            <a:avLst/>
          </a:prstGeom>
          <a:solidFill>
            <a:srgbClr val="0E1116"/>
          </a:solidFill>
          <a:ln/>
        </p:spPr>
      </p:sp>
      <p:pic>
        <p:nvPicPr>
          <p:cNvPr id="22" name="Image 3" descr="/home/claude/alpha-pitch/ic/w/PiGau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3440" y="4577304"/>
            <a:ext cx="227137" cy="227137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60120" y="5047488"/>
            <a:ext cx="28751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2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telemetry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960120" y="5358384"/>
            <a:ext cx="287517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Water, air, thermal and electrical monitoring brought into the same alerting and compliance record.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4383938" y="4187952"/>
            <a:ext cx="3423818" cy="1755648"/>
          </a:xfrm>
          <a:prstGeom prst="roundRect">
            <a:avLst>
              <a:gd name="adj" fmla="val 3646"/>
            </a:avLst>
          </a:prstGeom>
          <a:solidFill>
            <a:srgbClr val="FFFFFF"/>
          </a:solidFill>
          <a:ln w="12700">
            <a:solidFill>
              <a:srgbClr val="E2E1DD"/>
            </a:solidFill>
            <a:prstDash val="solid"/>
          </a:ln>
          <a:effectLst>
            <a:outerShdw sx="100000" sy="100000" kx="0" ky="0" algn="bl" rotWithShape="0" blurRad="127000" dist="38100" dir="5400000">
              <a:srgbClr val="8A8A82">
                <a:alpha val="1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658258" y="4443984"/>
            <a:ext cx="493776" cy="493776"/>
          </a:xfrm>
          <a:prstGeom prst="ellipse">
            <a:avLst/>
          </a:prstGeom>
          <a:solidFill>
            <a:srgbClr val="0E1116"/>
          </a:solidFill>
          <a:ln/>
        </p:spPr>
      </p:sp>
      <p:pic>
        <p:nvPicPr>
          <p:cNvPr id="27" name="Image 4" descr="/home/claude/alpha-pitch/ic/w/PiUsersFou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1578" y="4577304"/>
            <a:ext cx="227137" cy="227137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658258" y="5047488"/>
            <a:ext cx="28751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2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 analytics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4658258" y="5358384"/>
            <a:ext cx="287517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Footfall, dwell, queue and demographic insight from the cameras already enforcing your rules.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8082077" y="4187952"/>
            <a:ext cx="3423818" cy="1755648"/>
          </a:xfrm>
          <a:prstGeom prst="roundRect">
            <a:avLst>
              <a:gd name="adj" fmla="val 3646"/>
            </a:avLst>
          </a:prstGeom>
          <a:solidFill>
            <a:srgbClr val="FFFFFF"/>
          </a:solidFill>
          <a:ln w="12700">
            <a:solidFill>
              <a:srgbClr val="E2E1DD"/>
            </a:solidFill>
            <a:prstDash val="solid"/>
          </a:ln>
          <a:effectLst>
            <a:outerShdw sx="100000" sy="100000" kx="0" ky="0" algn="bl" rotWithShape="0" blurRad="127000" dist="38100" dir="5400000">
              <a:srgbClr val="8A8A82">
                <a:alpha val="18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356397" y="4443984"/>
            <a:ext cx="493776" cy="493776"/>
          </a:xfrm>
          <a:prstGeom prst="ellipse">
            <a:avLst/>
          </a:prstGeom>
          <a:solidFill>
            <a:srgbClr val="0E1116"/>
          </a:solidFill>
          <a:ln/>
        </p:spPr>
      </p:sp>
      <p:pic>
        <p:nvPicPr>
          <p:cNvPr id="32" name="Image 5" descr="/home/claude/alpha-pitch/ic/w/PiListCheck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9716" y="4577304"/>
            <a:ext cx="227137" cy="227137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356397" y="5047488"/>
            <a:ext cx="28751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2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 authoring</a:t>
            </a:r>
            <a:endParaRPr lang="en-US" sz="1350" dirty="0"/>
          </a:p>
        </p:txBody>
      </p:sp>
      <p:sp>
        <p:nvSpPr>
          <p:cNvPr id="34" name="Text 26"/>
          <p:cNvSpPr/>
          <p:nvPr/>
        </p:nvSpPr>
        <p:spPr>
          <a:xfrm>
            <a:off x="8356397" y="5358384"/>
            <a:ext cx="287517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Define, version and assign detection rules per camera from the admin console, without a deployment.</a:t>
            </a:r>
            <a:endParaRPr lang="en-US" sz="1050" dirty="0"/>
          </a:p>
        </p:txBody>
      </p:sp>
      <p:sp>
        <p:nvSpPr>
          <p:cNvPr id="35" name="Text 27"/>
          <p:cNvSpPr/>
          <p:nvPr/>
        </p:nvSpPr>
        <p:spPr>
          <a:xfrm>
            <a:off x="685800" y="644652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50" kern="0" dirty="0">
                <a:solidFill>
                  <a:srgbClr val="9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SURVEILLANCE</a:t>
            </a:r>
            <a:endParaRPr lang="en-US" sz="800" dirty="0"/>
          </a:p>
        </p:txBody>
      </p:sp>
      <p:sp>
        <p:nvSpPr>
          <p:cNvPr id="36" name="Text 28"/>
          <p:cNvSpPr/>
          <p:nvPr/>
        </p:nvSpPr>
        <p:spPr>
          <a:xfrm>
            <a:off x="10957255" y="644652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C8A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OPERATOR VIEW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2009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console for every camera, every site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5544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concept.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85800" y="2029968"/>
            <a:ext cx="7699248" cy="4041648"/>
          </a:xfrm>
          <a:prstGeom prst="roundRect">
            <a:avLst>
              <a:gd name="adj" fmla="val 1584"/>
            </a:avLst>
          </a:prstGeom>
          <a:solidFill>
            <a:srgbClr val="161A21"/>
          </a:solidFill>
          <a:ln/>
        </p:spPr>
      </p:sp>
      <p:sp>
        <p:nvSpPr>
          <p:cNvPr id="6" name="Text 4"/>
          <p:cNvSpPr/>
          <p:nvPr/>
        </p:nvSpPr>
        <p:spPr>
          <a:xfrm>
            <a:off x="941832" y="221284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6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CAMERA WALL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923544" y="2578608"/>
            <a:ext cx="2261616" cy="1527048"/>
          </a:xfrm>
          <a:prstGeom prst="roundRect">
            <a:avLst>
              <a:gd name="adj" fmla="val 2395"/>
            </a:avLst>
          </a:prstGeom>
          <a:solidFill>
            <a:srgbClr val="0B0E14"/>
          </a:solidFill>
          <a:ln w="12700">
            <a:solidFill>
              <a:srgbClr val="262C36"/>
            </a:solidFill>
            <a:prstDash val="solid"/>
          </a:ln>
        </p:spPr>
      </p:sp>
      <p:pic>
        <p:nvPicPr>
          <p:cNvPr id="8" name="Image 0" descr="/home/claude/alpha-pitch/ic/w/PiVideoCame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760" y="3067812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51560" y="379476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CAM-01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2910840" y="2734056"/>
            <a:ext cx="118872" cy="118872"/>
          </a:xfrm>
          <a:prstGeom prst="ellipse">
            <a:avLst/>
          </a:prstGeom>
          <a:solidFill>
            <a:srgbClr val="5B8C7E"/>
          </a:solidFill>
          <a:ln/>
        </p:spPr>
      </p:sp>
      <p:sp>
        <p:nvSpPr>
          <p:cNvPr id="11" name="Shape 8"/>
          <p:cNvSpPr/>
          <p:nvPr/>
        </p:nvSpPr>
        <p:spPr>
          <a:xfrm>
            <a:off x="3404616" y="2578608"/>
            <a:ext cx="2261616" cy="1527048"/>
          </a:xfrm>
          <a:prstGeom prst="roundRect">
            <a:avLst>
              <a:gd name="adj" fmla="val 2395"/>
            </a:avLst>
          </a:prstGeom>
          <a:solidFill>
            <a:srgbClr val="0B0E14"/>
          </a:solidFill>
          <a:ln w="22225">
            <a:solidFill>
              <a:srgbClr val="C4653F"/>
            </a:solidFill>
            <a:prstDash val="solid"/>
          </a:ln>
        </p:spPr>
      </p:sp>
      <p:pic>
        <p:nvPicPr>
          <p:cNvPr id="12" name="Image 1" descr="/home/claude/alpha-pitch/ic/w/PiVideoCamer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0832" y="3067812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32632" y="379476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CAM-02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4696968" y="2679192"/>
            <a:ext cx="841248" cy="246888"/>
          </a:xfrm>
          <a:prstGeom prst="roundRect">
            <a:avLst>
              <a:gd name="adj" fmla="val 50000"/>
            </a:avLst>
          </a:prstGeom>
          <a:solidFill>
            <a:srgbClr val="C4653F"/>
          </a:solidFill>
          <a:ln/>
        </p:spPr>
      </p:sp>
      <p:sp>
        <p:nvSpPr>
          <p:cNvPr id="15" name="Text 11"/>
          <p:cNvSpPr/>
          <p:nvPr/>
        </p:nvSpPr>
        <p:spPr>
          <a:xfrm>
            <a:off x="4696968" y="2679192"/>
            <a:ext cx="8412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VIOLATION</a:t>
            </a:r>
            <a:endParaRPr lang="en-US" sz="750" dirty="0"/>
          </a:p>
        </p:txBody>
      </p:sp>
      <p:sp>
        <p:nvSpPr>
          <p:cNvPr id="16" name="Shape 12"/>
          <p:cNvSpPr/>
          <p:nvPr/>
        </p:nvSpPr>
        <p:spPr>
          <a:xfrm>
            <a:off x="5885688" y="2578608"/>
            <a:ext cx="2261616" cy="1527048"/>
          </a:xfrm>
          <a:prstGeom prst="roundRect">
            <a:avLst>
              <a:gd name="adj" fmla="val 2395"/>
            </a:avLst>
          </a:prstGeom>
          <a:solidFill>
            <a:srgbClr val="0B0E14"/>
          </a:solidFill>
          <a:ln w="12700">
            <a:solidFill>
              <a:srgbClr val="262C36"/>
            </a:solidFill>
            <a:prstDash val="solid"/>
          </a:ln>
        </p:spPr>
      </p:sp>
      <p:pic>
        <p:nvPicPr>
          <p:cNvPr id="17" name="Image 2" descr="/home/claude/alpha-pitch/ic/w/PiVideoCamer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1904" y="3067812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013704" y="379476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CAM-03</a:t>
            </a:r>
            <a:endParaRPr lang="en-US" sz="850" dirty="0"/>
          </a:p>
        </p:txBody>
      </p:sp>
      <p:sp>
        <p:nvSpPr>
          <p:cNvPr id="19" name="Shape 14"/>
          <p:cNvSpPr/>
          <p:nvPr/>
        </p:nvSpPr>
        <p:spPr>
          <a:xfrm>
            <a:off x="7872984" y="2734056"/>
            <a:ext cx="118872" cy="118872"/>
          </a:xfrm>
          <a:prstGeom prst="ellipse">
            <a:avLst/>
          </a:prstGeom>
          <a:solidFill>
            <a:srgbClr val="5B8C7E"/>
          </a:solidFill>
          <a:ln/>
        </p:spPr>
      </p:sp>
      <p:sp>
        <p:nvSpPr>
          <p:cNvPr id="20" name="Shape 15"/>
          <p:cNvSpPr/>
          <p:nvPr/>
        </p:nvSpPr>
        <p:spPr>
          <a:xfrm>
            <a:off x="923544" y="4306824"/>
            <a:ext cx="2261616" cy="1527048"/>
          </a:xfrm>
          <a:prstGeom prst="roundRect">
            <a:avLst>
              <a:gd name="adj" fmla="val 2395"/>
            </a:avLst>
          </a:prstGeom>
          <a:solidFill>
            <a:srgbClr val="0B0E14"/>
          </a:solidFill>
          <a:ln w="12700">
            <a:solidFill>
              <a:srgbClr val="262C36"/>
            </a:solidFill>
            <a:prstDash val="solid"/>
          </a:ln>
        </p:spPr>
      </p:sp>
      <p:pic>
        <p:nvPicPr>
          <p:cNvPr id="21" name="Image 3" descr="/home/claude/alpha-pitch/ic/w/PiVideoCamer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9760" y="4796028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51560" y="552297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CAM-04</a:t>
            </a:r>
            <a:endParaRPr lang="en-US" sz="850" dirty="0"/>
          </a:p>
        </p:txBody>
      </p:sp>
      <p:sp>
        <p:nvSpPr>
          <p:cNvPr id="23" name="Shape 17"/>
          <p:cNvSpPr/>
          <p:nvPr/>
        </p:nvSpPr>
        <p:spPr>
          <a:xfrm>
            <a:off x="2910840" y="4462272"/>
            <a:ext cx="118872" cy="118872"/>
          </a:xfrm>
          <a:prstGeom prst="ellipse">
            <a:avLst/>
          </a:prstGeom>
          <a:solidFill>
            <a:srgbClr val="5B8C7E"/>
          </a:solidFill>
          <a:ln/>
        </p:spPr>
      </p:sp>
      <p:sp>
        <p:nvSpPr>
          <p:cNvPr id="24" name="Shape 18"/>
          <p:cNvSpPr/>
          <p:nvPr/>
        </p:nvSpPr>
        <p:spPr>
          <a:xfrm>
            <a:off x="3404616" y="4306824"/>
            <a:ext cx="2261616" cy="1527048"/>
          </a:xfrm>
          <a:prstGeom prst="roundRect">
            <a:avLst>
              <a:gd name="adj" fmla="val 2395"/>
            </a:avLst>
          </a:prstGeom>
          <a:solidFill>
            <a:srgbClr val="0B0E14"/>
          </a:solidFill>
          <a:ln w="12700">
            <a:solidFill>
              <a:srgbClr val="262C36"/>
            </a:solidFill>
            <a:prstDash val="solid"/>
          </a:ln>
        </p:spPr>
      </p:sp>
      <p:pic>
        <p:nvPicPr>
          <p:cNvPr id="25" name="Image 4" descr="/home/claude/alpha-pitch/ic/w/PiVideoCamer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0832" y="4796028"/>
            <a:ext cx="329184" cy="32918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3532632" y="552297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CAM-05</a:t>
            </a:r>
            <a:endParaRPr lang="en-US" sz="850" dirty="0"/>
          </a:p>
        </p:txBody>
      </p:sp>
      <p:sp>
        <p:nvSpPr>
          <p:cNvPr id="27" name="Shape 20"/>
          <p:cNvSpPr/>
          <p:nvPr/>
        </p:nvSpPr>
        <p:spPr>
          <a:xfrm>
            <a:off x="5391912" y="4462272"/>
            <a:ext cx="118872" cy="118872"/>
          </a:xfrm>
          <a:prstGeom prst="ellipse">
            <a:avLst/>
          </a:prstGeom>
          <a:solidFill>
            <a:srgbClr val="5B8C7E"/>
          </a:solidFill>
          <a:ln/>
        </p:spPr>
      </p:sp>
      <p:sp>
        <p:nvSpPr>
          <p:cNvPr id="28" name="Shape 21"/>
          <p:cNvSpPr/>
          <p:nvPr/>
        </p:nvSpPr>
        <p:spPr>
          <a:xfrm>
            <a:off x="5885688" y="4306824"/>
            <a:ext cx="2261616" cy="1527048"/>
          </a:xfrm>
          <a:prstGeom prst="roundRect">
            <a:avLst>
              <a:gd name="adj" fmla="val 2395"/>
            </a:avLst>
          </a:prstGeom>
          <a:solidFill>
            <a:srgbClr val="0B0E14"/>
          </a:solidFill>
          <a:ln w="12700">
            <a:solidFill>
              <a:srgbClr val="262C36"/>
            </a:solidFill>
            <a:prstDash val="solid"/>
          </a:ln>
        </p:spPr>
      </p:sp>
      <p:pic>
        <p:nvPicPr>
          <p:cNvPr id="29" name="Image 5" descr="/home/claude/alpha-pitch/ic/w/PiVideoCamer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1904" y="4796028"/>
            <a:ext cx="329184" cy="329184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6013704" y="552297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CAM-06</a:t>
            </a:r>
            <a:endParaRPr lang="en-US" sz="850" dirty="0"/>
          </a:p>
        </p:txBody>
      </p:sp>
      <p:sp>
        <p:nvSpPr>
          <p:cNvPr id="31" name="Shape 23"/>
          <p:cNvSpPr/>
          <p:nvPr/>
        </p:nvSpPr>
        <p:spPr>
          <a:xfrm>
            <a:off x="7872984" y="4462272"/>
            <a:ext cx="118872" cy="118872"/>
          </a:xfrm>
          <a:prstGeom prst="ellipse">
            <a:avLst/>
          </a:prstGeom>
          <a:solidFill>
            <a:srgbClr val="5B8C7E"/>
          </a:solidFill>
          <a:ln/>
        </p:spPr>
      </p:sp>
      <p:sp>
        <p:nvSpPr>
          <p:cNvPr id="32" name="Shape 24"/>
          <p:cNvSpPr/>
          <p:nvPr/>
        </p:nvSpPr>
        <p:spPr>
          <a:xfrm>
            <a:off x="8659368" y="2029968"/>
            <a:ext cx="2846527" cy="4041648"/>
          </a:xfrm>
          <a:prstGeom prst="roundRect">
            <a:avLst>
              <a:gd name="adj" fmla="val 2249"/>
            </a:avLst>
          </a:prstGeom>
          <a:solidFill>
            <a:srgbClr val="161A21"/>
          </a:solidFill>
          <a:ln/>
        </p:spPr>
      </p:sp>
      <p:sp>
        <p:nvSpPr>
          <p:cNvPr id="33" name="Text 25"/>
          <p:cNvSpPr/>
          <p:nvPr/>
        </p:nvSpPr>
        <p:spPr>
          <a:xfrm>
            <a:off x="8915400" y="2212848"/>
            <a:ext cx="233446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C8A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ALERT FEED</a:t>
            </a:r>
            <a:endParaRPr lang="en-US" sz="850" dirty="0"/>
          </a:p>
        </p:txBody>
      </p:sp>
      <p:sp>
        <p:nvSpPr>
          <p:cNvPr id="34" name="Shape 26"/>
          <p:cNvSpPr/>
          <p:nvPr/>
        </p:nvSpPr>
        <p:spPr>
          <a:xfrm>
            <a:off x="8933688" y="2715768"/>
            <a:ext cx="109728" cy="109728"/>
          </a:xfrm>
          <a:prstGeom prst="ellipse">
            <a:avLst/>
          </a:prstGeom>
          <a:solidFill>
            <a:srgbClr val="C4653F"/>
          </a:solidFill>
          <a:ln/>
        </p:spPr>
      </p:sp>
      <p:sp>
        <p:nvSpPr>
          <p:cNvPr id="35" name="Text 27"/>
          <p:cNvSpPr/>
          <p:nvPr/>
        </p:nvSpPr>
        <p:spPr>
          <a:xfrm>
            <a:off x="9153144" y="2615184"/>
            <a:ext cx="20784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hat not worn</a:t>
            </a:r>
            <a:endParaRPr lang="en-US" sz="1100" dirty="0"/>
          </a:p>
        </p:txBody>
      </p:sp>
      <p:sp>
        <p:nvSpPr>
          <p:cNvPr id="36" name="Text 28"/>
          <p:cNvSpPr/>
          <p:nvPr/>
        </p:nvSpPr>
        <p:spPr>
          <a:xfrm>
            <a:off x="9153144" y="2852928"/>
            <a:ext cx="20784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CAM-02 · Bay 3</a:t>
            </a:r>
            <a:endParaRPr lang="en-US" sz="900" dirty="0"/>
          </a:p>
        </p:txBody>
      </p:sp>
      <p:sp>
        <p:nvSpPr>
          <p:cNvPr id="37" name="Text 29"/>
          <p:cNvSpPr/>
          <p:nvPr/>
        </p:nvSpPr>
        <p:spPr>
          <a:xfrm>
            <a:off x="9153144" y="3044952"/>
            <a:ext cx="207843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0:03 ago</a:t>
            </a:r>
            <a:endParaRPr lang="en-US" sz="850" dirty="0"/>
          </a:p>
        </p:txBody>
      </p:sp>
      <p:sp>
        <p:nvSpPr>
          <p:cNvPr id="38" name="Shape 30"/>
          <p:cNvSpPr/>
          <p:nvPr/>
        </p:nvSpPr>
        <p:spPr>
          <a:xfrm>
            <a:off x="8933688" y="3392424"/>
            <a:ext cx="109728" cy="109728"/>
          </a:xfrm>
          <a:prstGeom prst="ellipse">
            <a:avLst/>
          </a:prstGeom>
          <a:solidFill>
            <a:srgbClr val="C4653F"/>
          </a:solidFill>
          <a:ln/>
        </p:spPr>
      </p:sp>
      <p:sp>
        <p:nvSpPr>
          <p:cNvPr id="39" name="Text 31"/>
          <p:cNvSpPr/>
          <p:nvPr/>
        </p:nvSpPr>
        <p:spPr>
          <a:xfrm>
            <a:off x="9153144" y="3291840"/>
            <a:ext cx="20784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pressure low</a:t>
            </a:r>
            <a:endParaRPr lang="en-US" sz="1100" dirty="0"/>
          </a:p>
        </p:txBody>
      </p:sp>
      <p:sp>
        <p:nvSpPr>
          <p:cNvPr id="40" name="Text 32"/>
          <p:cNvSpPr/>
          <p:nvPr/>
        </p:nvSpPr>
        <p:spPr>
          <a:xfrm>
            <a:off x="9153144" y="3529584"/>
            <a:ext cx="20784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PRS-01 · Pump house</a:t>
            </a:r>
            <a:endParaRPr lang="en-US" sz="900" dirty="0"/>
          </a:p>
        </p:txBody>
      </p:sp>
      <p:sp>
        <p:nvSpPr>
          <p:cNvPr id="41" name="Text 33"/>
          <p:cNvSpPr/>
          <p:nvPr/>
        </p:nvSpPr>
        <p:spPr>
          <a:xfrm>
            <a:off x="9153144" y="3721608"/>
            <a:ext cx="207843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1:18 ago</a:t>
            </a:r>
            <a:endParaRPr lang="en-US" sz="850" dirty="0"/>
          </a:p>
        </p:txBody>
      </p:sp>
      <p:sp>
        <p:nvSpPr>
          <p:cNvPr id="42" name="Shape 34"/>
          <p:cNvSpPr/>
          <p:nvPr/>
        </p:nvSpPr>
        <p:spPr>
          <a:xfrm>
            <a:off x="8933688" y="4069080"/>
            <a:ext cx="109728" cy="109728"/>
          </a:xfrm>
          <a:prstGeom prst="ellipse">
            <a:avLst/>
          </a:prstGeom>
          <a:solidFill>
            <a:srgbClr val="8A7440"/>
          </a:solidFill>
          <a:ln/>
        </p:spPr>
      </p:sp>
      <p:sp>
        <p:nvSpPr>
          <p:cNvPr id="43" name="Text 35"/>
          <p:cNvSpPr/>
          <p:nvPr/>
        </p:nvSpPr>
        <p:spPr>
          <a:xfrm>
            <a:off x="9153144" y="3968496"/>
            <a:ext cx="20784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 zone entry</a:t>
            </a:r>
            <a:endParaRPr lang="en-US" sz="1100" dirty="0"/>
          </a:p>
        </p:txBody>
      </p:sp>
      <p:sp>
        <p:nvSpPr>
          <p:cNvPr id="44" name="Text 36"/>
          <p:cNvSpPr/>
          <p:nvPr/>
        </p:nvSpPr>
        <p:spPr>
          <a:xfrm>
            <a:off x="9153144" y="4206240"/>
            <a:ext cx="20784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CAM-05 · Substation</a:t>
            </a:r>
            <a:endParaRPr lang="en-US" sz="900" dirty="0"/>
          </a:p>
        </p:txBody>
      </p:sp>
      <p:sp>
        <p:nvSpPr>
          <p:cNvPr id="45" name="Text 37"/>
          <p:cNvSpPr/>
          <p:nvPr/>
        </p:nvSpPr>
        <p:spPr>
          <a:xfrm>
            <a:off x="9153144" y="4398264"/>
            <a:ext cx="207843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2:41 ago</a:t>
            </a:r>
            <a:endParaRPr lang="en-US" sz="850" dirty="0"/>
          </a:p>
        </p:txBody>
      </p:sp>
      <p:sp>
        <p:nvSpPr>
          <p:cNvPr id="46" name="Shape 38"/>
          <p:cNvSpPr/>
          <p:nvPr/>
        </p:nvSpPr>
        <p:spPr>
          <a:xfrm>
            <a:off x="8933688" y="4745736"/>
            <a:ext cx="109728" cy="109728"/>
          </a:xfrm>
          <a:prstGeom prst="ellipse">
            <a:avLst/>
          </a:prstGeom>
          <a:solidFill>
            <a:srgbClr val="8A7440"/>
          </a:solidFill>
          <a:ln/>
        </p:spPr>
      </p:sp>
      <p:sp>
        <p:nvSpPr>
          <p:cNvPr id="47" name="Text 39"/>
          <p:cNvSpPr/>
          <p:nvPr/>
        </p:nvSpPr>
        <p:spPr>
          <a:xfrm>
            <a:off x="9153144" y="4645152"/>
            <a:ext cx="20784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Voltage sag detected</a:t>
            </a:r>
            <a:endParaRPr lang="en-US" sz="1100" dirty="0"/>
          </a:p>
        </p:txBody>
      </p:sp>
      <p:sp>
        <p:nvSpPr>
          <p:cNvPr id="48" name="Text 40"/>
          <p:cNvSpPr/>
          <p:nvPr/>
        </p:nvSpPr>
        <p:spPr>
          <a:xfrm>
            <a:off x="9153144" y="4882896"/>
            <a:ext cx="20784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ELC-03 · Panel B</a:t>
            </a:r>
            <a:endParaRPr lang="en-US" sz="900" dirty="0"/>
          </a:p>
        </p:txBody>
      </p:sp>
      <p:sp>
        <p:nvSpPr>
          <p:cNvPr id="49" name="Text 41"/>
          <p:cNvSpPr/>
          <p:nvPr/>
        </p:nvSpPr>
        <p:spPr>
          <a:xfrm>
            <a:off x="9153144" y="5074920"/>
            <a:ext cx="207843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6:12 ago</a:t>
            </a:r>
            <a:endParaRPr lang="en-US" sz="850" dirty="0"/>
          </a:p>
        </p:txBody>
      </p:sp>
      <p:sp>
        <p:nvSpPr>
          <p:cNvPr id="50" name="Shape 42"/>
          <p:cNvSpPr/>
          <p:nvPr/>
        </p:nvSpPr>
        <p:spPr>
          <a:xfrm>
            <a:off x="8933688" y="5422392"/>
            <a:ext cx="109728" cy="109728"/>
          </a:xfrm>
          <a:prstGeom prst="ellipse">
            <a:avLst/>
          </a:prstGeom>
          <a:solidFill>
            <a:srgbClr val="8A7440"/>
          </a:solidFill>
          <a:ln/>
        </p:spPr>
      </p:sp>
      <p:sp>
        <p:nvSpPr>
          <p:cNvPr id="51" name="Text 43"/>
          <p:cNvSpPr/>
          <p:nvPr/>
        </p:nvSpPr>
        <p:spPr>
          <a:xfrm>
            <a:off x="9153144" y="5321808"/>
            <a:ext cx="20784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Forklift proximity</a:t>
            </a:r>
            <a:endParaRPr lang="en-US" sz="1100" dirty="0"/>
          </a:p>
        </p:txBody>
      </p:sp>
      <p:sp>
        <p:nvSpPr>
          <p:cNvPr id="52" name="Text 44"/>
          <p:cNvSpPr/>
          <p:nvPr/>
        </p:nvSpPr>
        <p:spPr>
          <a:xfrm>
            <a:off x="9153144" y="5559552"/>
            <a:ext cx="20784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CAM-04 · Aisle 7</a:t>
            </a:r>
            <a:endParaRPr lang="en-US" sz="900" dirty="0"/>
          </a:p>
        </p:txBody>
      </p:sp>
      <p:sp>
        <p:nvSpPr>
          <p:cNvPr id="53" name="Text 45"/>
          <p:cNvSpPr/>
          <p:nvPr/>
        </p:nvSpPr>
        <p:spPr>
          <a:xfrm>
            <a:off x="9153144" y="5751576"/>
            <a:ext cx="207843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11:30 ago</a:t>
            </a:r>
            <a:endParaRPr lang="en-US" sz="850" dirty="0"/>
          </a:p>
        </p:txBody>
      </p:sp>
      <p:sp>
        <p:nvSpPr>
          <p:cNvPr id="54" name="Text 46"/>
          <p:cNvSpPr/>
          <p:nvPr/>
        </p:nvSpPr>
        <p:spPr>
          <a:xfrm>
            <a:off x="685800" y="644652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50" kern="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SURVEILLANCE</a:t>
            </a:r>
            <a:endParaRPr lang="en-US" sz="800" dirty="0"/>
          </a:p>
        </p:txBody>
      </p:sp>
      <p:sp>
        <p:nvSpPr>
          <p:cNvPr id="55" name="Text 47"/>
          <p:cNvSpPr/>
          <p:nvPr/>
        </p:nvSpPr>
        <p:spPr>
          <a:xfrm>
            <a:off x="10957255" y="644652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C8A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ANALYTICS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2009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 becomes a number you can manage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1591056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Trend, concentration and repeat-offence patterns — the view a safety or operations lead reports upward.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2304288"/>
            <a:ext cx="6537960" cy="3520440"/>
          </a:xfrm>
          <a:prstGeom prst="roundRect">
            <a:avLst>
              <a:gd name="adj" fmla="val 1818"/>
            </a:avLst>
          </a:prstGeom>
          <a:solidFill>
            <a:srgbClr val="161A21"/>
          </a:solidFill>
          <a:ln/>
        </p:spPr>
      </p:sp>
      <p:sp>
        <p:nvSpPr>
          <p:cNvPr id="6" name="Text 4"/>
          <p:cNvSpPr/>
          <p:nvPr/>
        </p:nvSpPr>
        <p:spPr>
          <a:xfrm>
            <a:off x="978408" y="2523744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Violations detected per week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78408" y="2798064"/>
            <a:ext cx="5952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— a typical enforcement curve after go-live</a:t>
            </a:r>
            <a:endParaRPr lang="en-US" sz="95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832104" y="3127248"/>
          <a:ext cx="6190488" cy="254203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7516368" y="2304288"/>
            <a:ext cx="3989527" cy="3520440"/>
          </a:xfrm>
          <a:prstGeom prst="roundRect">
            <a:avLst>
              <a:gd name="adj" fmla="val 1818"/>
            </a:avLst>
          </a:prstGeom>
          <a:solidFill>
            <a:srgbClr val="161A21"/>
          </a:solidFill>
          <a:ln/>
        </p:spPr>
      </p:sp>
      <p:sp>
        <p:nvSpPr>
          <p:cNvPr id="10" name="Text 7"/>
          <p:cNvSpPr/>
          <p:nvPr/>
        </p:nvSpPr>
        <p:spPr>
          <a:xfrm>
            <a:off x="7790688" y="2523744"/>
            <a:ext cx="34408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violations concentrate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790688" y="2798064"/>
            <a:ext cx="344088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— share of events by category</a:t>
            </a:r>
            <a:endParaRPr lang="en-US" sz="950" dirty="0"/>
          </a:p>
        </p:txBody>
      </p:sp>
      <p:graphicFrame>
        <p:nvGraphicFramePr>
          <p:cNvPr id="12" name="Chart 1" descr=""/>
          <p:cNvGraphicFramePr/>
          <p:nvPr/>
        </p:nvGraphicFramePr>
        <p:xfrm>
          <a:off x="7644384" y="3127248"/>
          <a:ext cx="3678631" cy="254203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Text 9"/>
          <p:cNvSpPr/>
          <p:nvPr/>
        </p:nvSpPr>
        <p:spPr>
          <a:xfrm>
            <a:off x="685800" y="5897880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6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on this slide are illustrative and provided to demonstrate reporting format. They are not measured client results.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685800" y="644652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50" kern="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SURVEILLANCE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10957255" y="644652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C8A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 &amp; CUSTOMER ANALYTICS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2009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21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cameras also explain your customers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1591056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is the reason the system goes in. Commercial insight is what makes the same hardware pay for itself twice.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2212848"/>
            <a:ext cx="3423818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2700">
            <a:solidFill>
              <a:srgbClr val="E2E1DD"/>
            </a:solidFill>
            <a:prstDash val="solid"/>
          </a:ln>
          <a:effectLst>
            <a:outerShdw sx="100000" sy="100000" kx="0" ky="0" algn="bl" rotWithShape="0" blurRad="127000" dist="38100" dir="5400000">
              <a:srgbClr val="8A8A82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41832" y="2395728"/>
            <a:ext cx="420624" cy="420624"/>
          </a:xfrm>
          <a:prstGeom prst="ellipse">
            <a:avLst/>
          </a:prstGeom>
          <a:solidFill>
            <a:srgbClr val="0E1116"/>
          </a:solidFill>
          <a:ln/>
        </p:spPr>
      </p:sp>
      <p:pic>
        <p:nvPicPr>
          <p:cNvPr id="7" name="Image 0" descr="/home/claude/alpha-pitch/ic/w/PiFootpri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5400" y="2509296"/>
            <a:ext cx="193487" cy="19348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72184" y="2450592"/>
            <a:ext cx="24179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Footfall &amp; occupancy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41832" y="2907792"/>
            <a:ext cx="291175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Entries, exits and live occupancy by zone and hour — counted, not inferred from till receipts.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383938" y="2212848"/>
            <a:ext cx="3423818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2700">
            <a:solidFill>
              <a:srgbClr val="E2E1DD"/>
            </a:solidFill>
            <a:prstDash val="solid"/>
          </a:ln>
          <a:effectLst>
            <a:outerShdw sx="100000" sy="100000" kx="0" ky="0" algn="bl" rotWithShape="0" blurRad="127000" dist="38100" dir="5400000">
              <a:srgbClr val="8A8A82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39970" y="2395728"/>
            <a:ext cx="420624" cy="420624"/>
          </a:xfrm>
          <a:prstGeom prst="ellipse">
            <a:avLst/>
          </a:prstGeom>
          <a:solidFill>
            <a:srgbClr val="0E1116"/>
          </a:solidFill>
          <a:ln/>
        </p:spPr>
      </p:sp>
      <p:pic>
        <p:nvPicPr>
          <p:cNvPr id="12" name="Image 1" descr="/home/claude/alpha-pitch/ic/w/PiTim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3539" y="2509296"/>
            <a:ext cx="193487" cy="19348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70322" y="2450592"/>
            <a:ext cx="24179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Dwell &amp; engagement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639970" y="2907792"/>
            <a:ext cx="291175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people spend in each zone, and which areas or displays genuinely hold attention.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8082077" y="2212848"/>
            <a:ext cx="3423818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2700">
            <a:solidFill>
              <a:srgbClr val="E2E1DD"/>
            </a:solidFill>
            <a:prstDash val="solid"/>
          </a:ln>
          <a:effectLst>
            <a:outerShdw sx="100000" sy="100000" kx="0" ky="0" algn="bl" rotWithShape="0" blurRad="127000" dist="38100" dir="5400000">
              <a:srgbClr val="8A8A82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38109" y="2395728"/>
            <a:ext cx="420624" cy="420624"/>
          </a:xfrm>
          <a:prstGeom prst="ellipse">
            <a:avLst/>
          </a:prstGeom>
          <a:solidFill>
            <a:srgbClr val="0E1116"/>
          </a:solidFill>
          <a:ln/>
        </p:spPr>
      </p:sp>
      <p:pic>
        <p:nvPicPr>
          <p:cNvPr id="17" name="Image 2" descr="/home/claude/alpha-pitch/ic/w/PiUsersThre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1677" y="2509296"/>
            <a:ext cx="193487" cy="19348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868461" y="2450592"/>
            <a:ext cx="24179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&amp; wait time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8338109" y="2907792"/>
            <a:ext cx="291175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length and wait duration at every service point, with alerts when thresholds are breached.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685800" y="3739896"/>
            <a:ext cx="3423818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2700">
            <a:solidFill>
              <a:srgbClr val="E2E1DD"/>
            </a:solidFill>
            <a:prstDash val="solid"/>
          </a:ln>
          <a:effectLst>
            <a:outerShdw sx="100000" sy="100000" kx="0" ky="0" algn="bl" rotWithShape="0" blurRad="127000" dist="38100" dir="5400000">
              <a:srgbClr val="8A8A82">
                <a:alpha val="1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41832" y="3922776"/>
            <a:ext cx="420624" cy="420624"/>
          </a:xfrm>
          <a:prstGeom prst="ellipse">
            <a:avLst/>
          </a:prstGeom>
          <a:solidFill>
            <a:srgbClr val="0E1116"/>
          </a:solidFill>
          <a:ln/>
        </p:spPr>
      </p:sp>
      <p:pic>
        <p:nvPicPr>
          <p:cNvPr id="22" name="Image 3" descr="/home/claude/alpha-pitch/ic/w/PiChartBa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5400" y="4036344"/>
            <a:ext cx="193487" cy="193487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472184" y="3977640"/>
            <a:ext cx="24179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Peak-hour patterns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941832" y="4434840"/>
            <a:ext cx="291175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curves by hour and weekday, so staffing follows real traffic rather than habit.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4383938" y="3739896"/>
            <a:ext cx="3423818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2700">
            <a:solidFill>
              <a:srgbClr val="E2E1DD"/>
            </a:solidFill>
            <a:prstDash val="solid"/>
          </a:ln>
          <a:effectLst>
            <a:outerShdw sx="100000" sy="100000" kx="0" ky="0" algn="bl" rotWithShape="0" blurRad="127000" dist="38100" dir="5400000">
              <a:srgbClr val="8A8A82">
                <a:alpha val="1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639970" y="3922776"/>
            <a:ext cx="420624" cy="420624"/>
          </a:xfrm>
          <a:prstGeom prst="ellipse">
            <a:avLst/>
          </a:prstGeom>
          <a:solidFill>
            <a:srgbClr val="0E1116"/>
          </a:solidFill>
          <a:ln/>
        </p:spPr>
      </p:sp>
      <p:pic>
        <p:nvPicPr>
          <p:cNvPr id="27" name="Image 4" descr="/home/claude/alpha-pitch/ic/w/PiUsersFou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3539" y="4036344"/>
            <a:ext cx="193487" cy="193487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170322" y="3977640"/>
            <a:ext cx="24179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&amp; gender bands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4639970" y="4434840"/>
            <a:ext cx="291175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Anonymous, aggregate demographic distribution of visitors — counts and ratios, never identity.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8082077" y="3739896"/>
            <a:ext cx="3423818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2700">
            <a:solidFill>
              <a:srgbClr val="E2E1DD"/>
            </a:solidFill>
            <a:prstDash val="solid"/>
          </a:ln>
          <a:effectLst>
            <a:outerShdw sx="100000" sy="100000" kx="0" ky="0" algn="bl" rotWithShape="0" blurRad="127000" dist="38100" dir="5400000">
              <a:srgbClr val="8A8A82">
                <a:alpha val="18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338109" y="3922776"/>
            <a:ext cx="420624" cy="420624"/>
          </a:xfrm>
          <a:prstGeom prst="ellipse">
            <a:avLst/>
          </a:prstGeom>
          <a:solidFill>
            <a:srgbClr val="0E1116"/>
          </a:solidFill>
          <a:ln/>
        </p:spPr>
      </p:sp>
      <p:pic>
        <p:nvPicPr>
          <p:cNvPr id="32" name="Image 5" descr="/home/claude/alpha-pitch/ic/w/PiArrowsLeftRigh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1677" y="4036344"/>
            <a:ext cx="193487" cy="193487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868461" y="3977640"/>
            <a:ext cx="24179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&amp; flow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8338109" y="4434840"/>
            <a:ext cx="291175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Zone-to-zone movement paths showing how people actually move through the space.</a:t>
            </a:r>
            <a:endParaRPr lang="en-US" sz="1000" dirty="0"/>
          </a:p>
        </p:txBody>
      </p:sp>
      <p:sp>
        <p:nvSpPr>
          <p:cNvPr id="35" name="Shape 27"/>
          <p:cNvSpPr/>
          <p:nvPr/>
        </p:nvSpPr>
        <p:spPr>
          <a:xfrm>
            <a:off x="685800" y="5303520"/>
            <a:ext cx="10820095" cy="786384"/>
          </a:xfrm>
          <a:prstGeom prst="roundRect">
            <a:avLst>
              <a:gd name="adj" fmla="val 6977"/>
            </a:avLst>
          </a:prstGeom>
          <a:solidFill>
            <a:srgbClr val="0E1116"/>
          </a:solidFill>
          <a:ln/>
        </p:spPr>
      </p:sp>
      <p:sp>
        <p:nvSpPr>
          <p:cNvPr id="36" name="Shape 28"/>
          <p:cNvSpPr/>
          <p:nvPr/>
        </p:nvSpPr>
        <p:spPr>
          <a:xfrm>
            <a:off x="941832" y="5440680"/>
            <a:ext cx="512064" cy="512064"/>
          </a:xfrm>
          <a:prstGeom prst="ellipse">
            <a:avLst/>
          </a:prstGeom>
          <a:solidFill>
            <a:srgbClr val="C8A96B"/>
          </a:solidFill>
          <a:ln/>
        </p:spPr>
      </p:sp>
      <p:pic>
        <p:nvPicPr>
          <p:cNvPr id="37" name="Image 6" descr="/home/claude/alpha-pitch/ic/k/PiEyeSlash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0089" y="5578937"/>
            <a:ext cx="235549" cy="235549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1618488" y="539496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Aggregate, not identity</a:t>
            </a:r>
            <a:endParaRPr lang="en-US" sz="1200" dirty="0"/>
          </a:p>
        </p:txBody>
      </p:sp>
      <p:sp>
        <p:nvSpPr>
          <p:cNvPr id="39" name="Text 30"/>
          <p:cNvSpPr/>
          <p:nvPr/>
        </p:nvSpPr>
        <p:spPr>
          <a:xfrm>
            <a:off x="1618488" y="5650992"/>
            <a:ext cx="95856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BA4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 inference runs on the edge device and produces counts and distributions only — no face templates stored, no individual profiles built, retention configurable. In regulated jurisdictions the demographic layer can be switched off entirely while footfall, dwell and queue analytics keep running.</a:t>
            </a:r>
            <a:endParaRPr lang="en-US" sz="1000" dirty="0"/>
          </a:p>
        </p:txBody>
      </p:sp>
      <p:sp>
        <p:nvSpPr>
          <p:cNvPr id="40" name="Text 31"/>
          <p:cNvSpPr/>
          <p:nvPr/>
        </p:nvSpPr>
        <p:spPr>
          <a:xfrm>
            <a:off x="685800" y="644652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50" kern="0" dirty="0">
                <a:solidFill>
                  <a:srgbClr val="9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SURVEILLANCE</a:t>
            </a:r>
            <a:endParaRPr lang="en-US" sz="800" dirty="0"/>
          </a:p>
        </p:txBody>
      </p:sp>
      <p:sp>
        <p:nvSpPr>
          <p:cNvPr id="41" name="Text 32"/>
          <p:cNvSpPr/>
          <p:nvPr/>
        </p:nvSpPr>
        <p:spPr>
          <a:xfrm>
            <a:off x="10957255" y="644652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C8A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DIFFERENCE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2009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21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Beyond traditional CCTV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2121408"/>
            <a:ext cx="5254600" cy="420624"/>
          </a:xfrm>
          <a:prstGeom prst="roundRect">
            <a:avLst>
              <a:gd name="adj" fmla="val 10870"/>
            </a:avLst>
          </a:prstGeom>
          <a:solidFill>
            <a:srgbClr val="ECEBE7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2121408"/>
            <a:ext cx="525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CCTV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251296" y="2121408"/>
            <a:ext cx="5254600" cy="420624"/>
          </a:xfrm>
          <a:prstGeom prst="roundRect">
            <a:avLst>
              <a:gd name="adj" fmla="val 10870"/>
            </a:avLst>
          </a:prstGeom>
          <a:solidFill>
            <a:srgbClr val="0E1116"/>
          </a:solidFill>
          <a:ln/>
        </p:spPr>
      </p:sp>
      <p:sp>
        <p:nvSpPr>
          <p:cNvPr id="7" name="Text 5"/>
          <p:cNvSpPr/>
          <p:nvPr/>
        </p:nvSpPr>
        <p:spPr>
          <a:xfrm>
            <a:off x="6251296" y="2121408"/>
            <a:ext cx="525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C8A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SURVEILLANCE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85800" y="2688336"/>
            <a:ext cx="5254600" cy="548640"/>
          </a:xfrm>
          <a:prstGeom prst="roundRect">
            <a:avLst>
              <a:gd name="adj" fmla="val 8333"/>
            </a:avLst>
          </a:prstGeom>
          <a:solidFill>
            <a:srgbClr val="EFEEEA"/>
          </a:solidFill>
          <a:ln/>
        </p:spPr>
      </p:sp>
      <p:pic>
        <p:nvPicPr>
          <p:cNvPr id="9" name="Image 0" descr="/home/claude/alpha-pitch/ic/k/P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2880360"/>
            <a:ext cx="164592" cy="16459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34440" y="2688336"/>
            <a:ext cx="447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for later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51296" y="2688336"/>
            <a:ext cx="5254600" cy="548640"/>
          </a:xfrm>
          <a:prstGeom prst="roundRect">
            <a:avLst>
              <a:gd name="adj" fmla="val 8333"/>
            </a:avLst>
          </a:prstGeom>
          <a:solidFill>
            <a:srgbClr val="0E1116"/>
          </a:solidFill>
          <a:ln/>
        </p:spPr>
      </p:sp>
      <p:pic>
        <p:nvPicPr>
          <p:cNvPr id="12" name="Image 1" descr="/home/claude/alpha-pitch/ic/b/Pi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9040" y="2880360"/>
            <a:ext cx="164592" cy="16459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799936" y="2688336"/>
            <a:ext cx="447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as it happens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85800" y="3364992"/>
            <a:ext cx="5254600" cy="548640"/>
          </a:xfrm>
          <a:prstGeom prst="roundRect">
            <a:avLst>
              <a:gd name="adj" fmla="val 8333"/>
            </a:avLst>
          </a:prstGeom>
          <a:solidFill>
            <a:srgbClr val="EFEEEA"/>
          </a:solidFill>
          <a:ln/>
        </p:spPr>
      </p:sp>
      <p:pic>
        <p:nvPicPr>
          <p:cNvPr id="15" name="Image 2" descr="/home/claude/alpha-pitch/ic/k/PiX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3557016"/>
            <a:ext cx="164592" cy="16459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34440" y="3364992"/>
            <a:ext cx="447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on manual review, if at all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251296" y="3364992"/>
            <a:ext cx="5254600" cy="548640"/>
          </a:xfrm>
          <a:prstGeom prst="roundRect">
            <a:avLst>
              <a:gd name="adj" fmla="val 8333"/>
            </a:avLst>
          </a:prstGeom>
          <a:solidFill>
            <a:srgbClr val="0E1116"/>
          </a:solidFill>
          <a:ln/>
        </p:spPr>
      </p:sp>
      <p:pic>
        <p:nvPicPr>
          <p:cNvPr id="18" name="Image 3" descr="/home/claude/alpha-pitch/ic/b/Pi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9040" y="3557016"/>
            <a:ext cx="164592" cy="16459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799936" y="3364992"/>
            <a:ext cx="447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the instant the rule breaks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685800" y="4041648"/>
            <a:ext cx="5254600" cy="548640"/>
          </a:xfrm>
          <a:prstGeom prst="roundRect">
            <a:avLst>
              <a:gd name="adj" fmla="val 8333"/>
            </a:avLst>
          </a:prstGeom>
          <a:solidFill>
            <a:srgbClr val="EFEEEA"/>
          </a:solidFill>
          <a:ln/>
        </p:spPr>
      </p:sp>
      <p:pic>
        <p:nvPicPr>
          <p:cNvPr id="21" name="Image 4" descr="/home/claude/alpha-pitch/ic/k/PiX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544" y="4233672"/>
            <a:ext cx="164592" cy="16459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234440" y="4041648"/>
            <a:ext cx="447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unstructured footage archive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6251296" y="4041648"/>
            <a:ext cx="5254600" cy="548640"/>
          </a:xfrm>
          <a:prstGeom prst="roundRect">
            <a:avLst>
              <a:gd name="adj" fmla="val 8333"/>
            </a:avLst>
          </a:prstGeom>
          <a:solidFill>
            <a:srgbClr val="0E1116"/>
          </a:solidFill>
          <a:ln/>
        </p:spPr>
      </p:sp>
      <p:pic>
        <p:nvPicPr>
          <p:cNvPr id="24" name="Image 5" descr="/home/claude/alpha-pitch/ic/b/Pi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9040" y="4233672"/>
            <a:ext cx="164592" cy="164592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799936" y="4041648"/>
            <a:ext cx="447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immutable evidence record per event</a:t>
            </a:r>
            <a:endParaRPr lang="en-US" sz="1200" dirty="0"/>
          </a:p>
        </p:txBody>
      </p:sp>
      <p:sp>
        <p:nvSpPr>
          <p:cNvPr id="26" name="Shape 18"/>
          <p:cNvSpPr/>
          <p:nvPr/>
        </p:nvSpPr>
        <p:spPr>
          <a:xfrm>
            <a:off x="685800" y="4718304"/>
            <a:ext cx="5254600" cy="548640"/>
          </a:xfrm>
          <a:prstGeom prst="roundRect">
            <a:avLst>
              <a:gd name="adj" fmla="val 8333"/>
            </a:avLst>
          </a:prstGeom>
          <a:solidFill>
            <a:srgbClr val="EFEEEA"/>
          </a:solidFill>
          <a:ln/>
        </p:spPr>
      </p:sp>
      <p:pic>
        <p:nvPicPr>
          <p:cNvPr id="27" name="Image 6" descr="/home/claude/alpha-pitch/ic/k/PiX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3544" y="4910328"/>
            <a:ext cx="164592" cy="164592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1234440" y="4718304"/>
            <a:ext cx="447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Cameras only</a:t>
            </a:r>
            <a:endParaRPr lang="en-US" sz="1200" dirty="0"/>
          </a:p>
        </p:txBody>
      </p:sp>
      <p:sp>
        <p:nvSpPr>
          <p:cNvPr id="29" name="Shape 20"/>
          <p:cNvSpPr/>
          <p:nvPr/>
        </p:nvSpPr>
        <p:spPr>
          <a:xfrm>
            <a:off x="6251296" y="4718304"/>
            <a:ext cx="5254600" cy="548640"/>
          </a:xfrm>
          <a:prstGeom prst="roundRect">
            <a:avLst>
              <a:gd name="adj" fmla="val 8333"/>
            </a:avLst>
          </a:prstGeom>
          <a:solidFill>
            <a:srgbClr val="0E1116"/>
          </a:solidFill>
          <a:ln/>
        </p:spPr>
      </p:sp>
      <p:pic>
        <p:nvPicPr>
          <p:cNvPr id="30" name="Image 7" descr="/home/claude/alpha-pitch/ic/b/PiCheck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89040" y="4910328"/>
            <a:ext cx="164592" cy="164592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6799936" y="4718304"/>
            <a:ext cx="447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Cameras and sensors on one pipeline</a:t>
            </a:r>
            <a:endParaRPr lang="en-US" sz="1200" dirty="0"/>
          </a:p>
        </p:txBody>
      </p:sp>
      <p:sp>
        <p:nvSpPr>
          <p:cNvPr id="32" name="Shape 22"/>
          <p:cNvSpPr/>
          <p:nvPr/>
        </p:nvSpPr>
        <p:spPr>
          <a:xfrm>
            <a:off x="685800" y="5394960"/>
            <a:ext cx="5254600" cy="548640"/>
          </a:xfrm>
          <a:prstGeom prst="roundRect">
            <a:avLst>
              <a:gd name="adj" fmla="val 8333"/>
            </a:avLst>
          </a:prstGeom>
          <a:solidFill>
            <a:srgbClr val="EFEEEA"/>
          </a:solidFill>
          <a:ln/>
        </p:spPr>
      </p:sp>
      <p:pic>
        <p:nvPicPr>
          <p:cNvPr id="33" name="Image 8" descr="/home/claude/alpha-pitch/ic/k/PiX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3544" y="5586984"/>
            <a:ext cx="164592" cy="164592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1234440" y="5394960"/>
            <a:ext cx="447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cost centre, start to finish</a:t>
            </a:r>
            <a:endParaRPr lang="en-US" sz="1200" dirty="0"/>
          </a:p>
        </p:txBody>
      </p:sp>
      <p:sp>
        <p:nvSpPr>
          <p:cNvPr id="35" name="Shape 24"/>
          <p:cNvSpPr/>
          <p:nvPr/>
        </p:nvSpPr>
        <p:spPr>
          <a:xfrm>
            <a:off x="6251296" y="5394960"/>
            <a:ext cx="5254600" cy="548640"/>
          </a:xfrm>
          <a:prstGeom prst="roundRect">
            <a:avLst>
              <a:gd name="adj" fmla="val 8333"/>
            </a:avLst>
          </a:prstGeom>
          <a:solidFill>
            <a:srgbClr val="0E1116"/>
          </a:solidFill>
          <a:ln/>
        </p:spPr>
      </p:sp>
      <p:pic>
        <p:nvPicPr>
          <p:cNvPr id="36" name="Image 9" descr="/home/claude/alpha-pitch/ic/b/PiCheck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89040" y="5586984"/>
            <a:ext cx="164592" cy="164592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6799936" y="5394960"/>
            <a:ext cx="447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plus commercial insight</a:t>
            </a:r>
            <a:endParaRPr lang="en-US" sz="1200" dirty="0"/>
          </a:p>
        </p:txBody>
      </p:sp>
      <p:sp>
        <p:nvSpPr>
          <p:cNvPr id="38" name="Text 26"/>
          <p:cNvSpPr/>
          <p:nvPr/>
        </p:nvSpPr>
        <p:spPr>
          <a:xfrm>
            <a:off x="685800" y="644652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50" kern="0" dirty="0">
                <a:solidFill>
                  <a:srgbClr val="9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SURVEILLANCE</a:t>
            </a:r>
            <a:endParaRPr lang="en-US" sz="800" dirty="0"/>
          </a:p>
        </p:txBody>
      </p:sp>
      <p:sp>
        <p:nvSpPr>
          <p:cNvPr id="39" name="Text 27"/>
          <p:cNvSpPr/>
          <p:nvPr/>
        </p:nvSpPr>
        <p:spPr>
          <a:xfrm>
            <a:off x="10957255" y="644652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C8A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2009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as enterprise software, not a camera add-on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1591056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layers, deliberately decoupled, so a burst of events or a failed service degrades throughput — never the record.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2212848"/>
            <a:ext cx="10820095" cy="676656"/>
          </a:xfrm>
          <a:prstGeom prst="roundRect">
            <a:avLst>
              <a:gd name="adj" fmla="val 8108"/>
            </a:avLst>
          </a:prstGeom>
          <a:solidFill>
            <a:srgbClr val="161A21"/>
          </a:solidFill>
          <a:ln/>
        </p:spPr>
      </p:sp>
      <p:sp>
        <p:nvSpPr>
          <p:cNvPr id="6" name="Shape 4"/>
          <p:cNvSpPr/>
          <p:nvPr/>
        </p:nvSpPr>
        <p:spPr>
          <a:xfrm>
            <a:off x="905256" y="2340864"/>
            <a:ext cx="420624" cy="420624"/>
          </a:xfrm>
          <a:prstGeom prst="ellipse">
            <a:avLst/>
          </a:prstGeom>
          <a:ln w="12700">
            <a:solidFill>
              <a:srgbClr val="C8A96B"/>
            </a:solidFill>
            <a:prstDash val="solid"/>
          </a:ln>
        </p:spPr>
      </p:sp>
      <p:pic>
        <p:nvPicPr>
          <p:cNvPr id="7" name="Image 0" descr="/home/claude/alpha-pitch/ic/w/PiCp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8824" y="2454432"/>
            <a:ext cx="193487" cy="19348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72184" y="2212848"/>
            <a:ext cx="1965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C8A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474720" y="2212848"/>
            <a:ext cx="775685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BA4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On-site inference on client-owned hardware, taking both camera streams and sensor telemetry.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85800" y="3008376"/>
            <a:ext cx="10820095" cy="676656"/>
          </a:xfrm>
          <a:prstGeom prst="roundRect">
            <a:avLst>
              <a:gd name="adj" fmla="val 8108"/>
            </a:avLst>
          </a:prstGeom>
          <a:solidFill>
            <a:srgbClr val="1D222B"/>
          </a:solidFill>
          <a:ln/>
        </p:spPr>
      </p:sp>
      <p:sp>
        <p:nvSpPr>
          <p:cNvPr id="11" name="Shape 8"/>
          <p:cNvSpPr/>
          <p:nvPr/>
        </p:nvSpPr>
        <p:spPr>
          <a:xfrm>
            <a:off x="905256" y="3136392"/>
            <a:ext cx="420624" cy="420624"/>
          </a:xfrm>
          <a:prstGeom prst="ellipse">
            <a:avLst/>
          </a:prstGeom>
          <a:ln w="12700">
            <a:solidFill>
              <a:srgbClr val="C8A96B"/>
            </a:solidFill>
            <a:prstDash val="solid"/>
          </a:ln>
        </p:spPr>
      </p:sp>
      <p:pic>
        <p:nvPicPr>
          <p:cNvPr id="12" name="Image 1" descr="/home/claude/alpha-pitch/ic/w/PiPat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824" y="3249960"/>
            <a:ext cx="193487" cy="19348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72184" y="3008376"/>
            <a:ext cx="1965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C8A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BACKBONE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3474720" y="3008376"/>
            <a:ext cx="775685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BA4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 queuing separates detection from processing, absorbing bursts without dropping events on the floor.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85800" y="3803904"/>
            <a:ext cx="10820095" cy="676656"/>
          </a:xfrm>
          <a:prstGeom prst="roundRect">
            <a:avLst>
              <a:gd name="adj" fmla="val 8108"/>
            </a:avLst>
          </a:prstGeom>
          <a:solidFill>
            <a:srgbClr val="161A21"/>
          </a:solidFill>
          <a:ln/>
        </p:spPr>
      </p:sp>
      <p:sp>
        <p:nvSpPr>
          <p:cNvPr id="16" name="Shape 12"/>
          <p:cNvSpPr/>
          <p:nvPr/>
        </p:nvSpPr>
        <p:spPr>
          <a:xfrm>
            <a:off x="905256" y="3931920"/>
            <a:ext cx="420624" cy="420624"/>
          </a:xfrm>
          <a:prstGeom prst="ellipse">
            <a:avLst/>
          </a:prstGeom>
          <a:ln w="12700">
            <a:solidFill>
              <a:srgbClr val="C8A96B"/>
            </a:solidFill>
            <a:prstDash val="solid"/>
          </a:ln>
        </p:spPr>
      </p:sp>
      <p:pic>
        <p:nvPicPr>
          <p:cNvPr id="17" name="Image 2" descr="/home/claude/alpha-pitch/ic/w/PiTreeStructur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824" y="4045488"/>
            <a:ext cx="193487" cy="19348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72184" y="3803904"/>
            <a:ext cx="1965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C8A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SERVICES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3474720" y="3803904"/>
            <a:ext cx="775685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BA4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Independently scalable services for violation management, audit journaling and human re-identification.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85800" y="4599432"/>
            <a:ext cx="10820095" cy="676656"/>
          </a:xfrm>
          <a:prstGeom prst="roundRect">
            <a:avLst>
              <a:gd name="adj" fmla="val 8108"/>
            </a:avLst>
          </a:prstGeom>
          <a:solidFill>
            <a:srgbClr val="1D222B"/>
          </a:solidFill>
          <a:ln/>
        </p:spPr>
      </p:sp>
      <p:sp>
        <p:nvSpPr>
          <p:cNvPr id="21" name="Shape 16"/>
          <p:cNvSpPr/>
          <p:nvPr/>
        </p:nvSpPr>
        <p:spPr>
          <a:xfrm>
            <a:off x="905256" y="4727448"/>
            <a:ext cx="420624" cy="420624"/>
          </a:xfrm>
          <a:prstGeom prst="ellipse">
            <a:avLst/>
          </a:prstGeom>
          <a:ln w="12700">
            <a:solidFill>
              <a:srgbClr val="C8A96B"/>
            </a:solidFill>
            <a:prstDash val="solid"/>
          </a:ln>
        </p:spPr>
      </p:sp>
      <p:pic>
        <p:nvPicPr>
          <p:cNvPr id="22" name="Image 3" descr="/home/claude/alpha-pitch/ic/w/PiMonitorPla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8824" y="4841016"/>
            <a:ext cx="193487" cy="193487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472184" y="4599432"/>
            <a:ext cx="1965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C8A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3474720" y="4599432"/>
            <a:ext cx="775685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BA4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gateway serving the operator console, live push notification, analytics and scheduled reporting.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685800" y="5504688"/>
            <a:ext cx="2540432" cy="457200"/>
          </a:xfrm>
          <a:prstGeom prst="roundRect">
            <a:avLst>
              <a:gd name="adj" fmla="val 50000"/>
            </a:avLst>
          </a:prstGeom>
          <a:solidFill>
            <a:srgbClr val="12171F"/>
          </a:solidFill>
          <a:ln w="12700">
            <a:solidFill>
              <a:srgbClr val="262C36"/>
            </a:solidFill>
            <a:prstDash val="solid"/>
          </a:ln>
        </p:spPr>
      </p:sp>
      <p:pic>
        <p:nvPicPr>
          <p:cNvPr id="26" name="Image 4" descr="/home/claude/alpha-pitch/ic/b/PiShield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" y="5650992"/>
            <a:ext cx="164592" cy="16459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124712" y="5504688"/>
            <a:ext cx="1991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 + RBAC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3445688" y="5504688"/>
            <a:ext cx="2540432" cy="457200"/>
          </a:xfrm>
          <a:prstGeom prst="roundRect">
            <a:avLst>
              <a:gd name="adj" fmla="val 50000"/>
            </a:avLst>
          </a:prstGeom>
          <a:solidFill>
            <a:srgbClr val="12171F"/>
          </a:solidFill>
          <a:ln w="12700">
            <a:solidFill>
              <a:srgbClr val="262C36"/>
            </a:solidFill>
            <a:prstDash val="solid"/>
          </a:ln>
        </p:spPr>
      </p:sp>
      <p:pic>
        <p:nvPicPr>
          <p:cNvPr id="29" name="Image 5" descr="/home/claude/alpha-pitch/ic/b/PiShield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46856" y="5650992"/>
            <a:ext cx="164592" cy="164592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3884600" y="5504688"/>
            <a:ext cx="1991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tenant isolation</a:t>
            </a:r>
            <a:endParaRPr lang="en-US" sz="1000" dirty="0"/>
          </a:p>
        </p:txBody>
      </p:sp>
      <p:sp>
        <p:nvSpPr>
          <p:cNvPr id="31" name="Shape 23"/>
          <p:cNvSpPr/>
          <p:nvPr/>
        </p:nvSpPr>
        <p:spPr>
          <a:xfrm>
            <a:off x="6205576" y="5504688"/>
            <a:ext cx="2540432" cy="457200"/>
          </a:xfrm>
          <a:prstGeom prst="roundRect">
            <a:avLst>
              <a:gd name="adj" fmla="val 50000"/>
            </a:avLst>
          </a:prstGeom>
          <a:solidFill>
            <a:srgbClr val="12171F"/>
          </a:solidFill>
          <a:ln w="12700">
            <a:solidFill>
              <a:srgbClr val="262C36"/>
            </a:solidFill>
            <a:prstDash val="solid"/>
          </a:ln>
        </p:spPr>
      </p:sp>
      <p:pic>
        <p:nvPicPr>
          <p:cNvPr id="32" name="Image 6" descr="/home/claude/alpha-pitch/ic/b/PiShieldChec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6744" y="5650992"/>
            <a:ext cx="164592" cy="164592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6644488" y="5504688"/>
            <a:ext cx="1991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audit journal</a:t>
            </a:r>
            <a:endParaRPr lang="en-US" sz="1000" dirty="0"/>
          </a:p>
        </p:txBody>
      </p:sp>
      <p:sp>
        <p:nvSpPr>
          <p:cNvPr id="34" name="Shape 25"/>
          <p:cNvSpPr/>
          <p:nvPr/>
        </p:nvSpPr>
        <p:spPr>
          <a:xfrm>
            <a:off x="8965463" y="5504688"/>
            <a:ext cx="2540432" cy="457200"/>
          </a:xfrm>
          <a:prstGeom prst="roundRect">
            <a:avLst>
              <a:gd name="adj" fmla="val 50000"/>
            </a:avLst>
          </a:prstGeom>
          <a:solidFill>
            <a:srgbClr val="12171F"/>
          </a:solidFill>
          <a:ln w="12700">
            <a:solidFill>
              <a:srgbClr val="262C36"/>
            </a:solidFill>
            <a:prstDash val="solid"/>
          </a:ln>
        </p:spPr>
      </p:sp>
      <p:pic>
        <p:nvPicPr>
          <p:cNvPr id="35" name="Image 7" descr="/home/claude/alpha-pitch/ic/b/PiShieldCheck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66631" y="5650992"/>
            <a:ext cx="164592" cy="164592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9404375" y="5504688"/>
            <a:ext cx="1991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Horizontally scalable services</a:t>
            </a:r>
            <a:endParaRPr lang="en-US" sz="1000" dirty="0"/>
          </a:p>
        </p:txBody>
      </p:sp>
      <p:sp>
        <p:nvSpPr>
          <p:cNvPr id="37" name="Text 27"/>
          <p:cNvSpPr/>
          <p:nvPr/>
        </p:nvSpPr>
        <p:spPr>
          <a:xfrm>
            <a:off x="685800" y="644652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50" kern="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SURVEILLANCE</a:t>
            </a:r>
            <a:endParaRPr lang="en-US" sz="800" dirty="0"/>
          </a:p>
        </p:txBody>
      </p:sp>
      <p:sp>
        <p:nvSpPr>
          <p:cNvPr id="38" name="Text 28"/>
          <p:cNvSpPr/>
          <p:nvPr/>
        </p:nvSpPr>
        <p:spPr>
          <a:xfrm>
            <a:off x="10957255" y="644652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C8A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2009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21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in weeks, not quarters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1591056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typical single-site rollout. Multi-site programmes run the same sequence per location, in parallel.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2286000"/>
            <a:ext cx="1973824" cy="2706624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2E1DD"/>
            </a:solidFill>
            <a:prstDash val="solid"/>
          </a:ln>
          <a:effectLst>
            <a:outerShdw sx="100000" sy="100000" kx="0" ky="0" algn="bl" rotWithShape="0" blurRad="127000" dist="38100" dir="5400000">
              <a:srgbClr val="8A8A82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468880"/>
            <a:ext cx="197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8A7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407536" y="2798064"/>
            <a:ext cx="530352" cy="530352"/>
          </a:xfrm>
          <a:prstGeom prst="ellipse">
            <a:avLst/>
          </a:prstGeom>
          <a:solidFill>
            <a:srgbClr val="0E1116"/>
          </a:solidFill>
          <a:ln/>
        </p:spPr>
      </p:sp>
      <p:pic>
        <p:nvPicPr>
          <p:cNvPr id="8" name="Image 0" descr="/home/claude/alpha-pitch/ic/w/PiMagnifyingGla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0731" y="2941259"/>
            <a:ext cx="243962" cy="24396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95528" y="3474720"/>
            <a:ext cx="175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survey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50392" y="3877056"/>
            <a:ext cx="16446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and sensor audit, coverage mapping, and agreement on the SOPs that carry the most operational risk.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897368" y="2286000"/>
            <a:ext cx="1973824" cy="2706624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2E1DD"/>
            </a:solidFill>
            <a:prstDash val="solid"/>
          </a:ln>
          <a:effectLst>
            <a:outerShdw sx="100000" sy="100000" kx="0" ky="0" algn="bl" rotWithShape="0" blurRad="127000" dist="38100" dir="5400000">
              <a:srgbClr val="8A8A82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2897368" y="2468880"/>
            <a:ext cx="197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8A7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619104" y="2798064"/>
            <a:ext cx="530352" cy="530352"/>
          </a:xfrm>
          <a:prstGeom prst="ellipse">
            <a:avLst/>
          </a:prstGeom>
          <a:solidFill>
            <a:srgbClr val="0E1116"/>
          </a:solidFill>
          <a:ln/>
        </p:spPr>
      </p:sp>
      <p:pic>
        <p:nvPicPr>
          <p:cNvPr id="14" name="Image 1" descr="/home/claude/alpha-pitch/ic/w/PiHardDriv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2299" y="2941259"/>
            <a:ext cx="243962" cy="24396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007096" y="3474720"/>
            <a:ext cx="175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061960" y="3877056"/>
            <a:ext cx="16446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device commissioned on-site; additional cameras and sensor points mounted and brought online.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5108936" y="2286000"/>
            <a:ext cx="1973824" cy="2706624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2E1DD"/>
            </a:solidFill>
            <a:prstDash val="solid"/>
          </a:ln>
          <a:effectLst>
            <a:outerShdw sx="100000" sy="100000" kx="0" ky="0" algn="bl" rotWithShape="0" blurRad="127000" dist="38100" dir="5400000">
              <a:srgbClr val="8A8A82">
                <a:alpha val="18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5108936" y="2468880"/>
            <a:ext cx="197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8A7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5830672" y="2798064"/>
            <a:ext cx="530352" cy="530352"/>
          </a:xfrm>
          <a:prstGeom prst="ellipse">
            <a:avLst/>
          </a:prstGeom>
          <a:solidFill>
            <a:srgbClr val="0E1116"/>
          </a:solidFill>
          <a:ln/>
        </p:spPr>
      </p:sp>
      <p:pic>
        <p:nvPicPr>
          <p:cNvPr id="20" name="Image 2" descr="/home/claude/alpha-pitch/ic/w/PiSlidersHorizont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3867" y="2941259"/>
            <a:ext cx="243962" cy="24396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218664" y="3474720"/>
            <a:ext cx="175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5273528" y="3877056"/>
            <a:ext cx="16446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mapped source by source, thresholds tuned, recipients and escalation routing set.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7320504" y="2286000"/>
            <a:ext cx="1973824" cy="2706624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2E1DD"/>
            </a:solidFill>
            <a:prstDash val="solid"/>
          </a:ln>
          <a:effectLst>
            <a:outerShdw sx="100000" sy="100000" kx="0" ky="0" algn="bl" rotWithShape="0" blurRad="127000" dist="38100" dir="5400000">
              <a:srgbClr val="8A8A82">
                <a:alpha val="18000"/>
              </a:srgbClr>
            </a:outerShdw>
          </a:effectLst>
        </p:spPr>
      </p:sp>
      <p:sp>
        <p:nvSpPr>
          <p:cNvPr id="24" name="Text 19"/>
          <p:cNvSpPr/>
          <p:nvPr/>
        </p:nvSpPr>
        <p:spPr>
          <a:xfrm>
            <a:off x="7320504" y="2468880"/>
            <a:ext cx="197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8A7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8042239" y="2798064"/>
            <a:ext cx="530352" cy="530352"/>
          </a:xfrm>
          <a:prstGeom prst="ellipse">
            <a:avLst/>
          </a:prstGeom>
          <a:solidFill>
            <a:srgbClr val="0E1116"/>
          </a:solidFill>
          <a:ln/>
        </p:spPr>
      </p:sp>
      <p:pic>
        <p:nvPicPr>
          <p:cNvPr id="26" name="Image 3" descr="/home/claude/alpha-pitch/ic/w/PiCheckCirc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5434" y="2941259"/>
            <a:ext cx="243962" cy="24396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430232" y="3474720"/>
            <a:ext cx="175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7485096" y="3877056"/>
            <a:ext cx="16446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supervised run confirms detection quality and calibrates against real site conditions.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9532071" y="2286000"/>
            <a:ext cx="1973824" cy="2706624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2E1DD"/>
            </a:solidFill>
            <a:prstDash val="solid"/>
          </a:ln>
          <a:effectLst>
            <a:outerShdw sx="100000" sy="100000" kx="0" ky="0" algn="bl" rotWithShape="0" blurRad="127000" dist="38100" dir="5400000">
              <a:srgbClr val="8A8A82">
                <a:alpha val="18000"/>
              </a:srgbClr>
            </a:outerShdw>
          </a:effectLst>
        </p:spPr>
      </p:sp>
      <p:sp>
        <p:nvSpPr>
          <p:cNvPr id="30" name="Text 24"/>
          <p:cNvSpPr/>
          <p:nvPr/>
        </p:nvSpPr>
        <p:spPr>
          <a:xfrm>
            <a:off x="9532071" y="2468880"/>
            <a:ext cx="197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8A7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5+</a:t>
            </a:r>
            <a:endParaRPr lang="en-US" sz="950" dirty="0"/>
          </a:p>
        </p:txBody>
      </p:sp>
      <p:sp>
        <p:nvSpPr>
          <p:cNvPr id="31" name="Shape 25"/>
          <p:cNvSpPr/>
          <p:nvPr/>
        </p:nvSpPr>
        <p:spPr>
          <a:xfrm>
            <a:off x="10253807" y="2798064"/>
            <a:ext cx="530352" cy="530352"/>
          </a:xfrm>
          <a:prstGeom prst="ellipse">
            <a:avLst/>
          </a:prstGeom>
          <a:solidFill>
            <a:srgbClr val="0E1116"/>
          </a:solidFill>
          <a:ln/>
        </p:spPr>
      </p:sp>
      <p:pic>
        <p:nvPicPr>
          <p:cNvPr id="32" name="Image 4" descr="/home/claude/alpha-pitch/ic/w/PiPla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97002" y="2941259"/>
            <a:ext cx="243962" cy="243962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9641799" y="3474720"/>
            <a:ext cx="175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 &amp; expand</a:t>
            </a:r>
            <a:endParaRPr lang="en-US" sz="1300" dirty="0"/>
          </a:p>
        </p:txBody>
      </p:sp>
      <p:sp>
        <p:nvSpPr>
          <p:cNvPr id="34" name="Text 27"/>
          <p:cNvSpPr/>
          <p:nvPr/>
        </p:nvSpPr>
        <p:spPr>
          <a:xfrm>
            <a:off x="9696663" y="3877056"/>
            <a:ext cx="16446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alerting and compliance logging, with further SOPs added by configuration.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685800" y="5230368"/>
            <a:ext cx="10820095" cy="841248"/>
          </a:xfrm>
          <a:prstGeom prst="roundRect">
            <a:avLst>
              <a:gd name="adj" fmla="val 6522"/>
            </a:avLst>
          </a:prstGeom>
          <a:solidFill>
            <a:srgbClr val="0E1116"/>
          </a:solidFill>
          <a:ln/>
        </p:spPr>
      </p:sp>
      <p:sp>
        <p:nvSpPr>
          <p:cNvPr id="36" name="Shape 29"/>
          <p:cNvSpPr/>
          <p:nvPr/>
        </p:nvSpPr>
        <p:spPr>
          <a:xfrm>
            <a:off x="941832" y="5394960"/>
            <a:ext cx="512064" cy="512064"/>
          </a:xfrm>
          <a:prstGeom prst="ellipse">
            <a:avLst/>
          </a:prstGeom>
          <a:solidFill>
            <a:srgbClr val="C8A96B"/>
          </a:solidFill>
          <a:ln/>
        </p:spPr>
      </p:sp>
      <p:pic>
        <p:nvPicPr>
          <p:cNvPr id="37" name="Image 5" descr="/home/claude/alpha-pitch/ic/k/PiSeal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0089" y="5533217"/>
            <a:ext cx="235549" cy="235549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1618488" y="5394960"/>
            <a:ext cx="957651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8A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ownership.  </a:t>
            </a:r>
            <a:pPr indent="0" marL="0">
              <a:buNone/>
            </a:pPr>
            <a:r>
              <a:rPr lang="en-US" sz="115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edge device is purchased once and titled to you on installation. There is no leasing lock-in, and no dependency on us to keep your own hardware running.</a:t>
            </a:r>
            <a:endParaRPr lang="en-US" sz="1150" dirty="0"/>
          </a:p>
        </p:txBody>
      </p:sp>
      <p:sp>
        <p:nvSpPr>
          <p:cNvPr id="39" name="Text 31"/>
          <p:cNvSpPr/>
          <p:nvPr/>
        </p:nvSpPr>
        <p:spPr>
          <a:xfrm>
            <a:off x="685800" y="644652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50" kern="0" dirty="0">
                <a:solidFill>
                  <a:srgbClr val="9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SURVEILLANCE</a:t>
            </a:r>
            <a:endParaRPr lang="en-US" sz="800" dirty="0"/>
          </a:p>
        </p:txBody>
      </p:sp>
      <p:sp>
        <p:nvSpPr>
          <p:cNvPr id="40" name="Text 32"/>
          <p:cNvSpPr/>
          <p:nvPr/>
        </p:nvSpPr>
        <p:spPr>
          <a:xfrm>
            <a:off x="10957255" y="644652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C8A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MODEL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2009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transparent investment model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1591056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own the hardware. You pay for what you deploy, and for the rules you need enforced.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2286000"/>
            <a:ext cx="2499284" cy="2359152"/>
          </a:xfrm>
          <a:prstGeom prst="roundRect">
            <a:avLst>
              <a:gd name="adj" fmla="val 2713"/>
            </a:avLst>
          </a:prstGeom>
          <a:solidFill>
            <a:srgbClr val="161A21"/>
          </a:solidFill>
          <a:ln/>
        </p:spPr>
      </p:sp>
      <p:sp>
        <p:nvSpPr>
          <p:cNvPr id="6" name="Shape 4"/>
          <p:cNvSpPr/>
          <p:nvPr/>
        </p:nvSpPr>
        <p:spPr>
          <a:xfrm>
            <a:off x="1661122" y="2523744"/>
            <a:ext cx="548640" cy="548640"/>
          </a:xfrm>
          <a:prstGeom prst="ellipse">
            <a:avLst/>
          </a:prstGeom>
          <a:ln w="12700">
            <a:solidFill>
              <a:srgbClr val="C8A96B"/>
            </a:solidFill>
            <a:prstDash val="solid"/>
          </a:ln>
        </p:spPr>
      </p:sp>
      <p:pic>
        <p:nvPicPr>
          <p:cNvPr id="7" name="Image 0" descr="/home/claude/alpha-pitch/ic/w/PiHardDriv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09255" y="2671877"/>
            <a:ext cx="252374" cy="25237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13816" y="3200400"/>
            <a:ext cx="22432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905256" y="3602736"/>
            <a:ext cx="2060372" cy="274320"/>
          </a:xfrm>
          <a:prstGeom prst="roundRect">
            <a:avLst>
              <a:gd name="adj" fmla="val 50000"/>
            </a:avLst>
          </a:prstGeom>
          <a:solidFill>
            <a:srgbClr val="22283A"/>
          </a:solidFill>
          <a:ln/>
        </p:spPr>
      </p:sp>
      <p:sp>
        <p:nvSpPr>
          <p:cNvPr id="10" name="Text 7"/>
          <p:cNvSpPr/>
          <p:nvPr/>
        </p:nvSpPr>
        <p:spPr>
          <a:xfrm>
            <a:off x="905256" y="3602736"/>
            <a:ext cx="20603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C8A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68680" y="3986784"/>
            <a:ext cx="21335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survey, camera and sensor integration, edge commissioning and initial SOP configuration.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459404" y="2286000"/>
            <a:ext cx="2499284" cy="2359152"/>
          </a:xfrm>
          <a:prstGeom prst="roundRect">
            <a:avLst>
              <a:gd name="adj" fmla="val 2713"/>
            </a:avLst>
          </a:prstGeom>
          <a:solidFill>
            <a:srgbClr val="161A21"/>
          </a:solidFill>
          <a:ln/>
        </p:spPr>
      </p:sp>
      <p:sp>
        <p:nvSpPr>
          <p:cNvPr id="13" name="Shape 10"/>
          <p:cNvSpPr/>
          <p:nvPr/>
        </p:nvSpPr>
        <p:spPr>
          <a:xfrm>
            <a:off x="4434726" y="2523744"/>
            <a:ext cx="548640" cy="548640"/>
          </a:xfrm>
          <a:prstGeom prst="ellipse">
            <a:avLst/>
          </a:prstGeom>
          <a:ln w="12700">
            <a:solidFill>
              <a:srgbClr val="C8A96B"/>
            </a:solidFill>
            <a:prstDash val="solid"/>
          </a:ln>
        </p:spPr>
      </p:sp>
      <p:pic>
        <p:nvPicPr>
          <p:cNvPr id="14" name="Image 1" descr="/home/claude/alpha-pitch/ic/w/PiCpu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2859" y="2671877"/>
            <a:ext cx="252374" cy="25237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587420" y="3200400"/>
            <a:ext cx="22432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device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3678860" y="3602736"/>
            <a:ext cx="2060372" cy="274320"/>
          </a:xfrm>
          <a:prstGeom prst="roundRect">
            <a:avLst>
              <a:gd name="adj" fmla="val 50000"/>
            </a:avLst>
          </a:prstGeom>
          <a:solidFill>
            <a:srgbClr val="22283A"/>
          </a:solidFill>
          <a:ln/>
        </p:spPr>
      </p:sp>
      <p:sp>
        <p:nvSpPr>
          <p:cNvPr id="17" name="Text 13"/>
          <p:cNvSpPr/>
          <p:nvPr/>
        </p:nvSpPr>
        <p:spPr>
          <a:xfrm>
            <a:off x="3678860" y="3602736"/>
            <a:ext cx="20603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C8A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· YOU OWN IT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3642284" y="3986784"/>
            <a:ext cx="21335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Purchased once at cost and titled to you on the day it is installed.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6233008" y="2286000"/>
            <a:ext cx="2499284" cy="2359152"/>
          </a:xfrm>
          <a:prstGeom prst="roundRect">
            <a:avLst>
              <a:gd name="adj" fmla="val 2713"/>
            </a:avLst>
          </a:prstGeom>
          <a:solidFill>
            <a:srgbClr val="161A21"/>
          </a:solidFill>
          <a:ln/>
        </p:spPr>
      </p:sp>
      <p:sp>
        <p:nvSpPr>
          <p:cNvPr id="20" name="Shape 16"/>
          <p:cNvSpPr/>
          <p:nvPr/>
        </p:nvSpPr>
        <p:spPr>
          <a:xfrm>
            <a:off x="7208330" y="2523744"/>
            <a:ext cx="548640" cy="548640"/>
          </a:xfrm>
          <a:prstGeom prst="ellipse">
            <a:avLst/>
          </a:prstGeom>
          <a:ln w="12700">
            <a:solidFill>
              <a:srgbClr val="C8A96B"/>
            </a:solidFill>
            <a:prstDash val="solid"/>
          </a:ln>
        </p:spPr>
      </p:sp>
      <p:pic>
        <p:nvPicPr>
          <p:cNvPr id="21" name="Image 2" descr="/home/claude/alpha-pitch/ic/w/PiVideoCamer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6462" y="2671877"/>
            <a:ext cx="252374" cy="25237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361024" y="3200400"/>
            <a:ext cx="22432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camera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6452464" y="3602736"/>
            <a:ext cx="2060372" cy="274320"/>
          </a:xfrm>
          <a:prstGeom prst="roundRect">
            <a:avLst>
              <a:gd name="adj" fmla="val 50000"/>
            </a:avLst>
          </a:prstGeom>
          <a:solidFill>
            <a:srgbClr val="22283A"/>
          </a:solidFill>
          <a:ln/>
        </p:spPr>
      </p:sp>
      <p:sp>
        <p:nvSpPr>
          <p:cNvPr id="24" name="Text 19"/>
          <p:cNvSpPr/>
          <p:nvPr/>
        </p:nvSpPr>
        <p:spPr>
          <a:xfrm>
            <a:off x="6452464" y="3602736"/>
            <a:ext cx="20603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C8A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</a:t>
            </a:r>
            <a:endParaRPr lang="en-US" sz="800" dirty="0"/>
          </a:p>
        </p:txBody>
      </p:sp>
      <p:sp>
        <p:nvSpPr>
          <p:cNvPr id="25" name="Text 20"/>
          <p:cNvSpPr/>
          <p:nvPr/>
        </p:nvSpPr>
        <p:spPr>
          <a:xfrm>
            <a:off x="6415888" y="3986784"/>
            <a:ext cx="21335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access, inference capacity, evidence storage and support, per camera online.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9006611" y="2286000"/>
            <a:ext cx="2499284" cy="2359152"/>
          </a:xfrm>
          <a:prstGeom prst="roundRect">
            <a:avLst>
              <a:gd name="adj" fmla="val 2713"/>
            </a:avLst>
          </a:prstGeom>
          <a:solidFill>
            <a:srgbClr val="161A21"/>
          </a:solidFill>
          <a:ln/>
        </p:spPr>
      </p:sp>
      <p:sp>
        <p:nvSpPr>
          <p:cNvPr id="27" name="Shape 22"/>
          <p:cNvSpPr/>
          <p:nvPr/>
        </p:nvSpPr>
        <p:spPr>
          <a:xfrm>
            <a:off x="9981933" y="2523744"/>
            <a:ext cx="548640" cy="548640"/>
          </a:xfrm>
          <a:prstGeom prst="ellipse">
            <a:avLst/>
          </a:prstGeom>
          <a:ln w="12700">
            <a:solidFill>
              <a:srgbClr val="C8A96B"/>
            </a:solidFill>
            <a:prstDash val="solid"/>
          </a:ln>
        </p:spPr>
      </p:sp>
      <p:pic>
        <p:nvPicPr>
          <p:cNvPr id="28" name="Image 3" descr="/home/claude/alpha-pitch/ic/w/PiListCheck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0066" y="2671877"/>
            <a:ext cx="252374" cy="252374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9134627" y="3200400"/>
            <a:ext cx="22432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SOP</a:t>
            </a:r>
            <a:endParaRPr lang="en-US" sz="1500" dirty="0"/>
          </a:p>
        </p:txBody>
      </p:sp>
      <p:sp>
        <p:nvSpPr>
          <p:cNvPr id="30" name="Shape 24"/>
          <p:cNvSpPr/>
          <p:nvPr/>
        </p:nvSpPr>
        <p:spPr>
          <a:xfrm>
            <a:off x="9226067" y="3602736"/>
            <a:ext cx="2060372" cy="274320"/>
          </a:xfrm>
          <a:prstGeom prst="roundRect">
            <a:avLst>
              <a:gd name="adj" fmla="val 50000"/>
            </a:avLst>
          </a:prstGeom>
          <a:solidFill>
            <a:srgbClr val="22283A"/>
          </a:solidFill>
          <a:ln/>
        </p:spPr>
      </p:sp>
      <p:sp>
        <p:nvSpPr>
          <p:cNvPr id="31" name="Text 25"/>
          <p:cNvSpPr/>
          <p:nvPr/>
        </p:nvSpPr>
        <p:spPr>
          <a:xfrm>
            <a:off x="9226067" y="3602736"/>
            <a:ext cx="20603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C8A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· SCOPED</a:t>
            </a:r>
            <a:endParaRPr lang="en-US" sz="800" dirty="0"/>
          </a:p>
        </p:txBody>
      </p:sp>
      <p:sp>
        <p:nvSpPr>
          <p:cNvPr id="32" name="Text 26"/>
          <p:cNvSpPr/>
          <p:nvPr/>
        </p:nvSpPr>
        <p:spPr>
          <a:xfrm>
            <a:off x="9189491" y="3986784"/>
            <a:ext cx="21335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Priced by rule complexity — standard detections, telemetry thresholds, or bespoke trained models.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685800" y="4864608"/>
            <a:ext cx="10820095" cy="1078992"/>
          </a:xfrm>
          <a:prstGeom prst="roundRect">
            <a:avLst>
              <a:gd name="adj" fmla="val 5085"/>
            </a:avLst>
          </a:prstGeom>
          <a:solidFill>
            <a:srgbClr val="1D222B"/>
          </a:solidFill>
          <a:ln/>
        </p:spPr>
      </p:sp>
      <p:sp>
        <p:nvSpPr>
          <p:cNvPr id="34" name="Shape 28"/>
          <p:cNvSpPr/>
          <p:nvPr/>
        </p:nvSpPr>
        <p:spPr>
          <a:xfrm>
            <a:off x="960120" y="5120640"/>
            <a:ext cx="548640" cy="548640"/>
          </a:xfrm>
          <a:prstGeom prst="ellipse">
            <a:avLst/>
          </a:prstGeom>
          <a:solidFill>
            <a:srgbClr val="C8A96B"/>
          </a:solidFill>
          <a:ln/>
        </p:spPr>
      </p:sp>
      <p:pic>
        <p:nvPicPr>
          <p:cNvPr id="35" name="Image 4" descr="/home/claude/alpha-pitch/ic/k/PiScale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8253" y="5268773"/>
            <a:ext cx="252374" cy="252374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1673352" y="50474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8A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SOP pricing is set</a:t>
            </a:r>
            <a:endParaRPr lang="en-US" sz="1250" dirty="0"/>
          </a:p>
        </p:txBody>
      </p:sp>
      <p:sp>
        <p:nvSpPr>
          <p:cNvPr id="37" name="Text 30"/>
          <p:cNvSpPr/>
          <p:nvPr/>
        </p:nvSpPr>
        <p:spPr>
          <a:xfrm>
            <a:off x="1673352" y="5340096"/>
            <a:ext cx="949421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BA4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follows engineering effort, not headcount. A standard presence, PPE or telemetry-threshold check draws on a maintained model and prices at the low end; a bespoke rule requiring data collection, annotation and training sits higher. Every proposal is scoped to your camera count, sensor points and SOP list after the site survey — so the number you are quoted is the number you pay.</a:t>
            </a:r>
            <a:endParaRPr lang="en-US" sz="1050" dirty="0"/>
          </a:p>
        </p:txBody>
      </p:sp>
      <p:sp>
        <p:nvSpPr>
          <p:cNvPr id="38" name="Text 31"/>
          <p:cNvSpPr/>
          <p:nvPr/>
        </p:nvSpPr>
        <p:spPr>
          <a:xfrm>
            <a:off x="685800" y="644652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50" kern="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SURVEILLANCE</a:t>
            </a:r>
            <a:endParaRPr lang="en-US" sz="800" dirty="0"/>
          </a:p>
        </p:txBody>
      </p:sp>
      <p:sp>
        <p:nvSpPr>
          <p:cNvPr id="39" name="Text 32"/>
          <p:cNvSpPr/>
          <p:nvPr/>
        </p:nvSpPr>
        <p:spPr>
          <a:xfrm>
            <a:off x="10957255" y="644652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C8A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&amp; FIT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2009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21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Alpha Surveillance fits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1591056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2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analytics is scaling from $12.7B in 2024 to a projected $37.8B by 2030 — a 19.5% compound annual rate. </a:t>
            </a:r>
            <a:pPr indent="0" marL="0">
              <a:buNone/>
            </a:pPr>
            <a:r>
              <a:rPr lang="en-US" sz="12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rule engine serves every sector below; only the SOPs change.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85800" y="2194560"/>
            <a:ext cx="3423818" cy="1700784"/>
          </a:xfrm>
          <a:prstGeom prst="roundRect">
            <a:avLst>
              <a:gd name="adj" fmla="val 3763"/>
            </a:avLst>
          </a:prstGeom>
          <a:solidFill>
            <a:srgbClr val="FFFFFF"/>
          </a:solidFill>
          <a:ln w="12700">
            <a:solidFill>
              <a:srgbClr val="E2E1DD"/>
            </a:solidFill>
            <a:prstDash val="solid"/>
          </a:ln>
          <a:effectLst>
            <a:outerShdw sx="100000" sy="100000" kx="0" ky="0" algn="bl" rotWithShape="0" blurRad="127000" dist="38100" dir="5400000">
              <a:srgbClr val="8A8A82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450592"/>
            <a:ext cx="475488" cy="475488"/>
          </a:xfrm>
          <a:prstGeom prst="ellipse">
            <a:avLst/>
          </a:prstGeom>
          <a:solidFill>
            <a:srgbClr val="0E1116"/>
          </a:solidFill>
          <a:ln/>
        </p:spPr>
      </p:sp>
      <p:pic>
        <p:nvPicPr>
          <p:cNvPr id="7" name="Image 0" descr="/home/claude/alpha-pitch/ic/w/PiHardH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502" y="2578974"/>
            <a:ext cx="218724" cy="2187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3017520"/>
            <a:ext cx="28751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&amp; industrial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60120" y="3310128"/>
            <a:ext cx="287517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PPE enforcement, fall-risk zones, equipment proximity and subcontractor accountability.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383938" y="2194560"/>
            <a:ext cx="3423818" cy="1700784"/>
          </a:xfrm>
          <a:prstGeom prst="roundRect">
            <a:avLst>
              <a:gd name="adj" fmla="val 3763"/>
            </a:avLst>
          </a:prstGeom>
          <a:solidFill>
            <a:srgbClr val="FFFFFF"/>
          </a:solidFill>
          <a:ln w="12700">
            <a:solidFill>
              <a:srgbClr val="E2E1DD"/>
            </a:solidFill>
            <a:prstDash val="solid"/>
          </a:ln>
          <a:effectLst>
            <a:outerShdw sx="100000" sy="100000" kx="0" ky="0" algn="bl" rotWithShape="0" blurRad="127000" dist="38100" dir="5400000">
              <a:srgbClr val="8A8A82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58258" y="2450592"/>
            <a:ext cx="475488" cy="475488"/>
          </a:xfrm>
          <a:prstGeom prst="ellipse">
            <a:avLst/>
          </a:prstGeom>
          <a:solidFill>
            <a:srgbClr val="0E1116"/>
          </a:solidFill>
          <a:ln/>
        </p:spPr>
      </p:sp>
      <p:pic>
        <p:nvPicPr>
          <p:cNvPr id="12" name="Image 1" descr="/home/claude/alpha-pitch/ic/w/PiWarehou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6640" y="2578974"/>
            <a:ext cx="218724" cy="21872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58258" y="3017520"/>
            <a:ext cx="28751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Warehousing &amp; logistics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658258" y="3310128"/>
            <a:ext cx="287517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 safety, forklift–pedestrian conflict, restricted areas and shift headcount.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8082077" y="2194560"/>
            <a:ext cx="3423818" cy="1700784"/>
          </a:xfrm>
          <a:prstGeom prst="roundRect">
            <a:avLst>
              <a:gd name="adj" fmla="val 3763"/>
            </a:avLst>
          </a:prstGeom>
          <a:solidFill>
            <a:srgbClr val="FFFFFF"/>
          </a:solidFill>
          <a:ln w="12700">
            <a:solidFill>
              <a:srgbClr val="E2E1DD"/>
            </a:solidFill>
            <a:prstDash val="solid"/>
          </a:ln>
          <a:effectLst>
            <a:outerShdw sx="100000" sy="100000" kx="0" ky="0" algn="bl" rotWithShape="0" blurRad="127000" dist="38100" dir="5400000">
              <a:srgbClr val="8A8A82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56397" y="2450592"/>
            <a:ext cx="475488" cy="475488"/>
          </a:xfrm>
          <a:prstGeom prst="ellipse">
            <a:avLst/>
          </a:prstGeom>
          <a:solidFill>
            <a:srgbClr val="0E1116"/>
          </a:solidFill>
          <a:ln/>
        </p:spPr>
      </p:sp>
      <p:pic>
        <p:nvPicPr>
          <p:cNvPr id="17" name="Image 2" descr="/home/claude/alpha-pitch/ic/w/PiStorefro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4779" y="2578974"/>
            <a:ext cx="218724" cy="21872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56397" y="3017520"/>
            <a:ext cx="28751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8356397" y="3310128"/>
            <a:ext cx="287517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Shrinkage, footfall and dwell analytics. Retailers reported an 18% year-on-year rise in shoplifting incidents.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685800" y="4096512"/>
            <a:ext cx="3423818" cy="1700784"/>
          </a:xfrm>
          <a:prstGeom prst="roundRect">
            <a:avLst>
              <a:gd name="adj" fmla="val 3763"/>
            </a:avLst>
          </a:prstGeom>
          <a:solidFill>
            <a:srgbClr val="FFFFFF"/>
          </a:solidFill>
          <a:ln w="12700">
            <a:solidFill>
              <a:srgbClr val="E2E1DD"/>
            </a:solidFill>
            <a:prstDash val="solid"/>
          </a:ln>
          <a:effectLst>
            <a:outerShdw sx="100000" sy="100000" kx="0" ky="0" algn="bl" rotWithShape="0" blurRad="127000" dist="38100" dir="5400000">
              <a:srgbClr val="8A8A82">
                <a:alpha val="1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60120" y="4352544"/>
            <a:ext cx="475488" cy="475488"/>
          </a:xfrm>
          <a:prstGeom prst="ellipse">
            <a:avLst/>
          </a:prstGeom>
          <a:solidFill>
            <a:srgbClr val="0E1116"/>
          </a:solidFill>
          <a:ln/>
        </p:spPr>
      </p:sp>
      <p:pic>
        <p:nvPicPr>
          <p:cNvPr id="22" name="Image 3" descr="/home/claude/alpha-pitch/ic/w/PiBuildingOffic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502" y="4480926"/>
            <a:ext cx="218724" cy="21872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60120" y="4919472"/>
            <a:ext cx="28751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&amp; facilities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960120" y="5212080"/>
            <a:ext cx="287517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Access-control verification, after-hours presence, visitor and contractor flow.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4383938" y="4096512"/>
            <a:ext cx="3423818" cy="1700784"/>
          </a:xfrm>
          <a:prstGeom prst="roundRect">
            <a:avLst>
              <a:gd name="adj" fmla="val 3763"/>
            </a:avLst>
          </a:prstGeom>
          <a:solidFill>
            <a:srgbClr val="FFFFFF"/>
          </a:solidFill>
          <a:ln w="12700">
            <a:solidFill>
              <a:srgbClr val="E2E1DD"/>
            </a:solidFill>
            <a:prstDash val="solid"/>
          </a:ln>
          <a:effectLst>
            <a:outerShdw sx="100000" sy="100000" kx="0" ky="0" algn="bl" rotWithShape="0" blurRad="127000" dist="38100" dir="5400000">
              <a:srgbClr val="8A8A82">
                <a:alpha val="1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658258" y="4352544"/>
            <a:ext cx="475488" cy="475488"/>
          </a:xfrm>
          <a:prstGeom prst="ellipse">
            <a:avLst/>
          </a:prstGeom>
          <a:solidFill>
            <a:srgbClr val="0E1116"/>
          </a:solidFill>
          <a:ln/>
        </p:spPr>
      </p:sp>
      <p:pic>
        <p:nvPicPr>
          <p:cNvPr id="27" name="Image 4" descr="/home/claude/alpha-pitch/ic/w/PiFirstAi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6640" y="4480926"/>
            <a:ext cx="218724" cy="21872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658258" y="4919472"/>
            <a:ext cx="28751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4658258" y="5212080"/>
            <a:ext cx="287517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Hygiene and PPE protocol compliance in clinical, sterile and controlled environments.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8082077" y="4096512"/>
            <a:ext cx="3423818" cy="1700784"/>
          </a:xfrm>
          <a:prstGeom prst="roundRect">
            <a:avLst>
              <a:gd name="adj" fmla="val 3763"/>
            </a:avLst>
          </a:prstGeom>
          <a:solidFill>
            <a:srgbClr val="FFFFFF"/>
          </a:solidFill>
          <a:ln w="12700">
            <a:solidFill>
              <a:srgbClr val="E2E1DD"/>
            </a:solidFill>
            <a:prstDash val="solid"/>
          </a:ln>
          <a:effectLst>
            <a:outerShdw sx="100000" sy="100000" kx="0" ky="0" algn="bl" rotWithShape="0" blurRad="127000" dist="38100" dir="5400000">
              <a:srgbClr val="8A8A82">
                <a:alpha val="18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356397" y="4352544"/>
            <a:ext cx="475488" cy="475488"/>
          </a:xfrm>
          <a:prstGeom prst="ellipse">
            <a:avLst/>
          </a:prstGeom>
          <a:solidFill>
            <a:srgbClr val="0E1116"/>
          </a:solidFill>
          <a:ln/>
        </p:spPr>
      </p:sp>
      <p:pic>
        <p:nvPicPr>
          <p:cNvPr id="32" name="Image 5" descr="/home/claude/alpha-pitch/ic/w/PiGaug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4779" y="4480926"/>
            <a:ext cx="218724" cy="21872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356397" y="4919472"/>
            <a:ext cx="28751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Utilities &amp; process plant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8356397" y="5212080"/>
            <a:ext cx="287517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Pressure, air quality, thermal and electrical telemetry alongside site access control.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685800" y="5897880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8B8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Grand View Research, Video Analytics Market Size &amp; Share Report (2024–2030); National Retail Federation, The Impact of Retail Theft &amp; Violence (2025).</a:t>
            </a:r>
            <a:endParaRPr lang="en-US" sz="850" dirty="0"/>
          </a:p>
        </p:txBody>
      </p:sp>
      <p:sp>
        <p:nvSpPr>
          <p:cNvPr id="36" name="Text 28"/>
          <p:cNvSpPr/>
          <p:nvPr/>
        </p:nvSpPr>
        <p:spPr>
          <a:xfrm>
            <a:off x="685800" y="644652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50" kern="0" dirty="0">
                <a:solidFill>
                  <a:srgbClr val="9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SURVEILLANCE</a:t>
            </a:r>
            <a:endParaRPr lang="en-US" sz="800" dirty="0"/>
          </a:p>
        </p:txBody>
      </p:sp>
      <p:sp>
        <p:nvSpPr>
          <p:cNvPr id="37" name="Text 29"/>
          <p:cNvSpPr/>
          <p:nvPr/>
        </p:nvSpPr>
        <p:spPr>
          <a:xfrm>
            <a:off x="10957255" y="644652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960120"/>
            <a:ext cx="1554480" cy="1554480"/>
          </a:xfrm>
          <a:prstGeom prst="ellipse">
            <a:avLst/>
          </a:prstGeom>
          <a:ln w="9525">
            <a:solidFill>
              <a:srgbClr val="C8A96B">
                <a:alpha val="24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365760"/>
            <a:ext cx="2743200" cy="2743200"/>
          </a:xfrm>
          <a:prstGeom prst="ellipse">
            <a:avLst/>
          </a:prstGeom>
          <a:ln w="9525">
            <a:solidFill>
              <a:srgbClr val="C8A96B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58200" y="-228600"/>
            <a:ext cx="3931920" cy="3931920"/>
          </a:xfrm>
          <a:prstGeom prst="ellipse">
            <a:avLst/>
          </a:prstGeom>
          <a:ln w="9525">
            <a:solidFill>
              <a:srgbClr val="C8A96B">
                <a:alpha val="1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0" y="-822960"/>
            <a:ext cx="5120640" cy="5120640"/>
          </a:xfrm>
          <a:prstGeom prst="ellipse">
            <a:avLst/>
          </a:prstGeom>
          <a:ln w="9525">
            <a:solidFill>
              <a:srgbClr val="C8A96B">
                <a:alpha val="12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8229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C8A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85800" y="1188720"/>
            <a:ext cx="786384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with one site.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 it in a fortnight.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685800" y="2944368"/>
            <a:ext cx="3411626" cy="1874520"/>
          </a:xfrm>
          <a:prstGeom prst="roundRect">
            <a:avLst>
              <a:gd name="adj" fmla="val 3415"/>
            </a:avLst>
          </a:prstGeom>
          <a:solidFill>
            <a:srgbClr val="161A21"/>
          </a:solidFill>
          <a:ln/>
        </p:spPr>
      </p:sp>
      <p:sp>
        <p:nvSpPr>
          <p:cNvPr id="9" name="Shape 7"/>
          <p:cNvSpPr/>
          <p:nvPr/>
        </p:nvSpPr>
        <p:spPr>
          <a:xfrm>
            <a:off x="960120" y="3200400"/>
            <a:ext cx="512064" cy="512064"/>
          </a:xfrm>
          <a:prstGeom prst="ellipse">
            <a:avLst/>
          </a:prstGeom>
          <a:ln w="12700">
            <a:solidFill>
              <a:srgbClr val="C8A96B"/>
            </a:solidFill>
            <a:prstDash val="solid"/>
          </a:ln>
        </p:spPr>
      </p:sp>
      <p:pic>
        <p:nvPicPr>
          <p:cNvPr id="10" name="Image 0" descr="/home/claude/alpha-pitch/ic/w/PiMagnifyingGla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8377" y="3338657"/>
            <a:ext cx="235549" cy="235549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60120" y="3840480"/>
            <a:ext cx="286298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Site walkthrough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960120" y="4169664"/>
            <a:ext cx="28629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audit your cameras, sensors and coverage, then agree the two or three SOPs that carry the most risk.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390034" y="2944368"/>
            <a:ext cx="3411626" cy="1874520"/>
          </a:xfrm>
          <a:prstGeom prst="roundRect">
            <a:avLst>
              <a:gd name="adj" fmla="val 3415"/>
            </a:avLst>
          </a:prstGeom>
          <a:solidFill>
            <a:srgbClr val="161A21"/>
          </a:solidFill>
          <a:ln/>
        </p:spPr>
      </p:sp>
      <p:sp>
        <p:nvSpPr>
          <p:cNvPr id="14" name="Shape 11"/>
          <p:cNvSpPr/>
          <p:nvPr/>
        </p:nvSpPr>
        <p:spPr>
          <a:xfrm>
            <a:off x="4664354" y="3200400"/>
            <a:ext cx="512064" cy="512064"/>
          </a:xfrm>
          <a:prstGeom prst="ellipse">
            <a:avLst/>
          </a:prstGeom>
          <a:ln w="12700">
            <a:solidFill>
              <a:srgbClr val="C8A96B"/>
            </a:solidFill>
            <a:prstDash val="solid"/>
          </a:ln>
        </p:spPr>
      </p:sp>
      <p:pic>
        <p:nvPicPr>
          <p:cNvPr id="15" name="Image 1" descr="/home/claude/alpha-pitch/ic/w/PiCrosshai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612" y="3338657"/>
            <a:ext cx="235549" cy="235549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664354" y="3840480"/>
            <a:ext cx="286298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Pilot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4664354" y="4169664"/>
            <a:ext cx="28629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camera and sensor set runs live for two weeks. You see real detections on your own site — not a demo reel.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8094269" y="2944368"/>
            <a:ext cx="3411626" cy="1874520"/>
          </a:xfrm>
          <a:prstGeom prst="roundRect">
            <a:avLst>
              <a:gd name="adj" fmla="val 3415"/>
            </a:avLst>
          </a:prstGeom>
          <a:solidFill>
            <a:srgbClr val="161A21"/>
          </a:solidFill>
          <a:ln/>
        </p:spPr>
      </p:sp>
      <p:sp>
        <p:nvSpPr>
          <p:cNvPr id="19" name="Shape 15"/>
          <p:cNvSpPr/>
          <p:nvPr/>
        </p:nvSpPr>
        <p:spPr>
          <a:xfrm>
            <a:off x="8368589" y="3200400"/>
            <a:ext cx="512064" cy="512064"/>
          </a:xfrm>
          <a:prstGeom prst="ellipse">
            <a:avLst/>
          </a:prstGeom>
          <a:ln w="12700">
            <a:solidFill>
              <a:srgbClr val="C8A96B"/>
            </a:solidFill>
            <a:prstDash val="solid"/>
          </a:ln>
        </p:spPr>
      </p:sp>
      <p:pic>
        <p:nvPicPr>
          <p:cNvPr id="20" name="Image 2" descr="/home/claude/alpha-pitch/ic/w/PiTrendU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6846" y="3338657"/>
            <a:ext cx="235549" cy="235549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368589" y="3840480"/>
            <a:ext cx="286298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Scale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8368589" y="4169664"/>
            <a:ext cx="28629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source by source and site by site, on evidence rather than assumption.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685800" y="5230368"/>
            <a:ext cx="10820095" cy="0"/>
          </a:xfrm>
          <a:prstGeom prst="line">
            <a:avLst/>
          </a:prstGeom>
          <a:noFill/>
          <a:ln w="12700">
            <a:solidFill>
              <a:srgbClr val="262C36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685800" y="541324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Propellus</a:t>
            </a:r>
            <a:endParaRPr lang="en-US" sz="1700" dirty="0"/>
          </a:p>
        </p:txBody>
      </p:sp>
      <p:sp>
        <p:nvSpPr>
          <p:cNvPr id="25" name="Text 20"/>
          <p:cNvSpPr/>
          <p:nvPr/>
        </p:nvSpPr>
        <p:spPr>
          <a:xfrm>
            <a:off x="685800" y="57424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A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sabeerah@propellus.co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6019495" y="5760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Surveillance — Detection, Alerting &amp; Compliance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685800" y="644652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50" kern="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SURVEILLANCE</a:t>
            </a:r>
            <a:endParaRPr lang="en-US" sz="800" dirty="0"/>
          </a:p>
        </p:txBody>
      </p:sp>
      <p:sp>
        <p:nvSpPr>
          <p:cNvPr id="28" name="Text 23"/>
          <p:cNvSpPr/>
          <p:nvPr/>
        </p:nvSpPr>
        <p:spPr>
          <a:xfrm>
            <a:off x="10957255" y="644652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C8A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2009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21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1984248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8A7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43000" y="1975104"/>
            <a:ext cx="5623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2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Safety Council, Injury Facts — Work Injury Costs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0" y="1975104"/>
            <a:ext cx="46478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data. injuryfacts.nsc.org/work/costs/work-injury-costs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85800" y="2313432"/>
            <a:ext cx="10820095" cy="0"/>
          </a:xfrm>
          <a:prstGeom prst="line">
            <a:avLst/>
          </a:prstGeom>
          <a:noFill/>
          <a:ln w="12700">
            <a:solidFill>
              <a:srgbClr val="E4E3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37744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8A7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43000" y="2368296"/>
            <a:ext cx="5623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2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Bureau of Labor Statistics — Census of Fatal Occupational Injuries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0" y="2368296"/>
            <a:ext cx="46478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summary. bls.gov/news.release/cfoi.nr0.htm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85800" y="2706624"/>
            <a:ext cx="10820095" cy="0"/>
          </a:xfrm>
          <a:prstGeom prst="line">
            <a:avLst/>
          </a:prstGeom>
          <a:noFill/>
          <a:ln w="12700">
            <a:solidFill>
              <a:srgbClr val="E4E3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77063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8A7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43000" y="2761488"/>
            <a:ext cx="5623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2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PLOS ONE — “Pirate Stealth or Inattentional Blindness?”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58000" y="2761488"/>
            <a:ext cx="46478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monitoring, experienced and naïve operators; n = 171.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5800" y="3099816"/>
            <a:ext cx="10820095" cy="0"/>
          </a:xfrm>
          <a:prstGeom prst="line">
            <a:avLst/>
          </a:prstGeom>
          <a:noFill/>
          <a:ln w="12700">
            <a:solidFill>
              <a:srgbClr val="E4E3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163824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8A7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43000" y="3154680"/>
            <a:ext cx="5623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2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OSHA — Top 10 Most Frequently Cited Standards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0" y="3154680"/>
            <a:ext cx="46478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2025 (1 Oct 2024 – 30 Sep 2025). osha.gov/top10citedstandards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5800" y="3493008"/>
            <a:ext cx="10820095" cy="0"/>
          </a:xfrm>
          <a:prstGeom prst="line">
            <a:avLst/>
          </a:prstGeom>
          <a:noFill/>
          <a:ln w="12700">
            <a:solidFill>
              <a:srgbClr val="E4E3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557016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8A7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43000" y="3547872"/>
            <a:ext cx="5623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2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OSHA — Penalties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58000" y="3547872"/>
            <a:ext cx="46478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Maximums effective for citations issued after 15 Jan 2026. osha.gov/penalties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85800" y="3886200"/>
            <a:ext cx="10820095" cy="0"/>
          </a:xfrm>
          <a:prstGeom prst="line">
            <a:avLst/>
          </a:prstGeom>
          <a:noFill/>
          <a:ln w="12700">
            <a:solidFill>
              <a:srgbClr val="E4E3D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3950208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8A7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43000" y="3941064"/>
            <a:ext cx="5623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2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EPA — PM2.5 National Ambient Air Quality Standards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58000" y="3941064"/>
            <a:ext cx="46478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24-hour standard 35 µg/m³, retained in the 2024 final rule.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85800" y="4279392"/>
            <a:ext cx="10820095" cy="0"/>
          </a:xfrm>
          <a:prstGeom prst="line">
            <a:avLst/>
          </a:prstGeom>
          <a:noFill/>
          <a:ln w="12700">
            <a:solidFill>
              <a:srgbClr val="E4E3D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434340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8A7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43000" y="4334256"/>
            <a:ext cx="5623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2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Retail Federation — The Impact of Retail Theft &amp; Violence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58000" y="4334256"/>
            <a:ext cx="46478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edition; survey conducted June–August 2025.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85800" y="4672584"/>
            <a:ext cx="10820095" cy="0"/>
          </a:xfrm>
          <a:prstGeom prst="line">
            <a:avLst/>
          </a:prstGeom>
          <a:noFill/>
          <a:ln w="12700">
            <a:solidFill>
              <a:srgbClr val="E4E3D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" y="473659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8A7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43000" y="4727448"/>
            <a:ext cx="5623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2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View Research — Video Analytics Market Size &amp; Share Report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858000" y="4727448"/>
            <a:ext cx="46478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base year, 2025–2030 forecast period.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85800" y="5065776"/>
            <a:ext cx="10820095" cy="0"/>
          </a:xfrm>
          <a:prstGeom prst="line">
            <a:avLst/>
          </a:prstGeom>
          <a:noFill/>
          <a:ln w="12700">
            <a:solidFill>
              <a:srgbClr val="E4E3D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5800" y="5129784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8A7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143000" y="5120640"/>
            <a:ext cx="5623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2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Safety Council / NCCI — Workers’ Compensation Costs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858000" y="5120640"/>
            <a:ext cx="46478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for accidents occurring 2022–2023, valued October 2025.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85800" y="5687568"/>
            <a:ext cx="10820095" cy="548640"/>
          </a:xfrm>
          <a:prstGeom prst="roundRect">
            <a:avLst>
              <a:gd name="adj" fmla="val 10000"/>
            </a:avLst>
          </a:prstGeom>
          <a:solidFill>
            <a:srgbClr val="ECEBE7"/>
          </a:solidFill>
          <a:ln/>
        </p:spPr>
      </p:sp>
      <p:sp>
        <p:nvSpPr>
          <p:cNvPr id="40" name="Text 38"/>
          <p:cNvSpPr/>
          <p:nvPr/>
        </p:nvSpPr>
        <p:spPr>
          <a:xfrm>
            <a:off x="923544" y="5687568"/>
            <a:ext cx="103446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note on illustrative data.  </a:t>
            </a:r>
            <a:pPr indent="0" marL="0">
              <a:buNone/>
            </a:pPr>
            <a:r>
              <a:rPr lang="en-US" sz="10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views, trend lines, category breakdowns and telemetry threshold values in this deck are illustrative, shown to demonstrate format. They are not measured client results.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85800" y="644652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50" kern="0" dirty="0">
                <a:solidFill>
                  <a:srgbClr val="9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SURVEILLANCE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0957255" y="644652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2026-10-04T21:51:43Z</dcterms:created>
  <dcterms:modified xsi:type="dcterms:W3CDTF">2026-10-04T21:51:43Z</dcterms:modified>
</cp:coreProperties>
</file>